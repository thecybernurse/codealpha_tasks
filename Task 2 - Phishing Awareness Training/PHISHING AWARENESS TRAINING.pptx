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8" d="100"/>
          <a:sy n="78" d="100"/>
        </p:scale>
        <p:origin x="11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10/4/2026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10/4/2026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10/4/2026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10/4/2026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10/4/2026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10/4/2026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10/4/2026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10/4/2026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10/4/2026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10/4/2026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10/4/2026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75440" y="4540194"/>
            <a:ext cx="9897360" cy="652007"/>
          </a:xfrm>
        </p:spPr>
        <p:txBody>
          <a:bodyPr/>
          <a:lstStyle/>
          <a:p>
            <a:r>
              <a:rPr lang="en-US" sz="4000" b="1" dirty="0">
                <a:latin typeface="Aptos Display"/>
              </a:rPr>
              <a:t>PHISHING AWARENESS TRAINING</a:t>
            </a:r>
            <a:r>
              <a:rPr lang="en-US" sz="4400" b="1" dirty="0">
                <a:latin typeface="Aptos Display"/>
              </a:rPr>
              <a:t/>
            </a:r>
            <a:br>
              <a:rPr lang="en-US" sz="4400" b="1" dirty="0">
                <a:latin typeface="Aptos Display"/>
              </a:rPr>
            </a:br>
            <a:r>
              <a:rPr lang="en-US" sz="4400" b="1" dirty="0">
                <a:latin typeface="Aptos Display"/>
              </a:rPr>
              <a:t>              </a:t>
            </a:r>
            <a:r>
              <a:rPr lang="en-US" sz="2200" b="1" dirty="0">
                <a:solidFill>
                  <a:schemeClr val="bg1">
                    <a:lumMod val="85000"/>
                  </a:schemeClr>
                </a:solidFill>
                <a:latin typeface="Aptos Display"/>
              </a:rPr>
              <a:t>Recognize. Think. Protect</a:t>
            </a:r>
            <a:r>
              <a:rPr lang="en-US" sz="2200" b="1" dirty="0" smtClean="0">
                <a:latin typeface="Aptos Display"/>
              </a:rPr>
              <a:t>.</a:t>
            </a:r>
            <a:br>
              <a:rPr lang="en-US" sz="2200" b="1" dirty="0" smtClean="0">
                <a:latin typeface="Aptos Display"/>
              </a:rPr>
            </a:br>
            <a:r>
              <a:rPr lang="en-US" sz="4400" b="1" dirty="0">
                <a:latin typeface="Aptos Display"/>
              </a:rPr>
              <a:t/>
            </a:r>
            <a:br>
              <a:rPr lang="en-US" sz="4400" b="1" dirty="0">
                <a:latin typeface="Aptos Display"/>
              </a:rPr>
            </a:br>
            <a:r>
              <a:rPr lang="en-US" sz="3600" b="1" dirty="0">
                <a:latin typeface="Aptos Display"/>
              </a:rPr>
              <a:t>          </a:t>
            </a:r>
            <a:r>
              <a:rPr lang="en-US" sz="2000" b="1" dirty="0" err="1">
                <a:solidFill>
                  <a:schemeClr val="bg1">
                    <a:lumMod val="95000"/>
                  </a:schemeClr>
                </a:solidFill>
                <a:latin typeface="Aptos Display"/>
              </a:rPr>
              <a:t>CodeAlpha</a:t>
            </a:r>
            <a:r>
              <a:rPr lang="en-US" sz="2000" b="1" dirty="0">
                <a:solidFill>
                  <a:schemeClr val="bg1">
                    <a:lumMod val="95000"/>
                  </a:schemeClr>
                </a:solidFill>
                <a:latin typeface="Aptos Display"/>
              </a:rPr>
              <a:t> Cyber Security Internship</a:t>
            </a:r>
            <a:r>
              <a:rPr lang="en-US" sz="4000" b="1" dirty="0">
                <a:solidFill>
                  <a:schemeClr val="bg1">
                    <a:lumMod val="95000"/>
                  </a:schemeClr>
                </a:solidFill>
                <a:latin typeface="Aptos Display"/>
              </a:rPr>
              <a:t/>
            </a:r>
            <a:br>
              <a:rPr lang="en-US" sz="4000" b="1" dirty="0">
                <a:solidFill>
                  <a:schemeClr val="bg1">
                    <a:lumMod val="95000"/>
                  </a:schemeClr>
                </a:solidFill>
                <a:latin typeface="Aptos Display"/>
              </a:rPr>
            </a:br>
            <a:r>
              <a:rPr lang="en-US" sz="3600" b="1" dirty="0">
                <a:solidFill>
                  <a:schemeClr val="bg1">
                    <a:lumMod val="95000"/>
                  </a:schemeClr>
                </a:solidFill>
                <a:latin typeface="Aptos Display"/>
              </a:rPr>
              <a:t>                         </a:t>
            </a:r>
            <a:r>
              <a:rPr lang="en-US" sz="2000" b="1" dirty="0">
                <a:solidFill>
                  <a:schemeClr val="bg1">
                    <a:lumMod val="95000"/>
                  </a:schemeClr>
                </a:solidFill>
                <a:latin typeface="Aptos Display"/>
              </a:rPr>
              <a:t>Task </a:t>
            </a:r>
            <a:r>
              <a:rPr lang="en-US" sz="2000" b="1" dirty="0" smtClean="0">
                <a:solidFill>
                  <a:schemeClr val="bg1">
                    <a:lumMod val="95000"/>
                  </a:schemeClr>
                </a:solidFill>
                <a:latin typeface="Aptos Display"/>
              </a:rPr>
              <a:t>2</a:t>
            </a:r>
            <a:r>
              <a:rPr lang="en-US" sz="4400" b="1" dirty="0">
                <a:solidFill>
                  <a:schemeClr val="bg1">
                    <a:lumMod val="95000"/>
                  </a:schemeClr>
                </a:solidFill>
                <a:latin typeface="Aptos Display"/>
              </a:rPr>
              <a:t/>
            </a:r>
            <a:br>
              <a:rPr lang="en-US" sz="4400" b="1" dirty="0">
                <a:solidFill>
                  <a:schemeClr val="bg1">
                    <a:lumMod val="95000"/>
                  </a:schemeClr>
                </a:solidFill>
                <a:latin typeface="Aptos Display"/>
              </a:rPr>
            </a:br>
            <a:r>
              <a:rPr lang="en-US" sz="4400" b="1" dirty="0">
                <a:solidFill>
                  <a:schemeClr val="bg1">
                    <a:lumMod val="95000"/>
                  </a:schemeClr>
                </a:solidFill>
                <a:latin typeface="Aptos Display"/>
              </a:rPr>
              <a:t>                  </a:t>
            </a:r>
            <a:r>
              <a:rPr lang="en-US" sz="1800" b="1" dirty="0">
                <a:solidFill>
                  <a:schemeClr val="bg1">
                    <a:lumMod val="95000"/>
                  </a:schemeClr>
                </a:solidFill>
                <a:latin typeface="Aptos Display"/>
              </a:rPr>
              <a:t>Presented by</a:t>
            </a:r>
            <a:r>
              <a:rPr lang="en-US" sz="1800" b="1" dirty="0" smtClean="0">
                <a:solidFill>
                  <a:schemeClr val="bg1">
                    <a:lumMod val="95000"/>
                  </a:schemeClr>
                </a:solidFill>
                <a:latin typeface="Aptos Display"/>
              </a:rPr>
              <a:t>: </a:t>
            </a:r>
            <a:r>
              <a:rPr lang="en-US" sz="1800" b="1" dirty="0" err="1" smtClean="0">
                <a:solidFill>
                  <a:schemeClr val="bg1">
                    <a:lumMod val="95000"/>
                  </a:schemeClr>
                </a:solidFill>
                <a:latin typeface="Aptos Display"/>
              </a:rPr>
              <a:t>TheCyberNurse</a:t>
            </a:r>
            <a:r>
              <a:rPr lang="en-US" sz="1800" b="1" dirty="0">
                <a:latin typeface="Aptos Display"/>
              </a:rPr>
              <a:t/>
            </a:r>
            <a:br>
              <a:rPr lang="en-US" sz="1800" b="1" dirty="0">
                <a:latin typeface="Aptos Display"/>
              </a:rPr>
            </a:br>
            <a:r>
              <a:rPr lang="en-US" sz="1800" b="1" dirty="0">
                <a:latin typeface="Aptos Display"/>
              </a:rPr>
              <a:t>                   </a:t>
            </a:r>
            <a:endParaRPr lang="en-US" sz="4400" b="1" dirty="0">
              <a:latin typeface="Aptos Display"/>
            </a:endParaRPr>
          </a:p>
        </p:txBody>
      </p:sp>
    </p:spTree>
    <p:extLst>
      <p:ext uri="{BB962C8B-B14F-4D97-AF65-F5344CB8AC3E}">
        <p14:creationId xmlns:p14="http://schemas.microsoft.com/office/powerpoint/2010/main" val="3714288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48221" y="-12463"/>
            <a:ext cx="8825658" cy="2677648"/>
          </a:xfrm>
        </p:spPr>
        <p:txBody>
          <a:bodyPr/>
          <a:lstStyle/>
          <a:p>
            <a:r>
              <a:rPr lang="en-US" sz="3200" b="1" dirty="0" smtClean="0">
                <a:latin typeface="Aptos Display"/>
              </a:rPr>
              <a:t>                 WHAT </a:t>
            </a:r>
            <a:r>
              <a:rPr lang="en-US" sz="3200" b="1" dirty="0">
                <a:latin typeface="Aptos Display"/>
              </a:rPr>
              <a:t>IS </a:t>
            </a:r>
            <a:r>
              <a:rPr lang="en-US" sz="3200" b="1" dirty="0" smtClean="0">
                <a:latin typeface="Aptos Display"/>
              </a:rPr>
              <a:t>PHISHING</a:t>
            </a:r>
            <a:r>
              <a:rPr lang="en-US" sz="2000" b="1" dirty="0" smtClean="0">
                <a:latin typeface="Aptos Display"/>
              </a:rPr>
              <a:t/>
            </a:r>
            <a:br>
              <a:rPr lang="en-US" sz="2000" b="1" dirty="0" smtClean="0">
                <a:latin typeface="Aptos Display"/>
              </a:rPr>
            </a:br>
            <a:r>
              <a:rPr lang="en-US" sz="1600" dirty="0" smtClean="0"/>
              <a:t/>
            </a:r>
            <a:br>
              <a:rPr lang="en-US" sz="1600" dirty="0" smtClean="0"/>
            </a:br>
            <a:r>
              <a:rPr lang="en-US" sz="1800" dirty="0" smtClean="0"/>
              <a:t>Phishing </a:t>
            </a:r>
            <a:r>
              <a:rPr lang="en-US" sz="1800" dirty="0"/>
              <a:t>is a cyberattack that uses deceptive messages or websites to trick people into revealing sensitive information or performing an unsafe action.</a:t>
            </a:r>
          </a:p>
        </p:txBody>
      </p:sp>
      <p:sp>
        <p:nvSpPr>
          <p:cNvPr id="4" name="Rectangle 3"/>
          <p:cNvSpPr/>
          <p:nvPr/>
        </p:nvSpPr>
        <p:spPr>
          <a:xfrm>
            <a:off x="1031788" y="3575947"/>
            <a:ext cx="6096000" cy="369332"/>
          </a:xfrm>
          <a:prstGeom prst="rect">
            <a:avLst/>
          </a:prstGeom>
        </p:spPr>
        <p:txBody>
          <a:bodyPr>
            <a:spAutoFit/>
          </a:bodyPr>
          <a:lstStyle/>
          <a:p>
            <a:r>
              <a:rPr lang="en-US" dirty="0"/>
              <a:t> </a:t>
            </a:r>
            <a:endParaRPr lang="en-US" sz="1600" dirty="0">
              <a:solidFill>
                <a:schemeClr val="bg1">
                  <a:lumMod val="95000"/>
                </a:schemeClr>
              </a:solidFill>
            </a:endParaRPr>
          </a:p>
        </p:txBody>
      </p:sp>
      <p:sp>
        <p:nvSpPr>
          <p:cNvPr id="5" name="Rectangle 4"/>
          <p:cNvSpPr/>
          <p:nvPr/>
        </p:nvSpPr>
        <p:spPr>
          <a:xfrm>
            <a:off x="6907353" y="3477976"/>
            <a:ext cx="6096000" cy="2431435"/>
          </a:xfrm>
          <a:prstGeom prst="rect">
            <a:avLst/>
          </a:prstGeom>
        </p:spPr>
        <p:txBody>
          <a:bodyPr>
            <a:spAutoFit/>
          </a:bodyPr>
          <a:lstStyle/>
          <a:p>
            <a:r>
              <a:rPr lang="en-US" sz="2000" b="1" dirty="0">
                <a:solidFill>
                  <a:schemeClr val="bg1">
                    <a:lumMod val="95000"/>
                  </a:schemeClr>
                </a:solidFill>
              </a:rPr>
              <a:t>📩 DELIVERY </a:t>
            </a:r>
            <a:r>
              <a:rPr lang="en-US" sz="2000" b="1" dirty="0" smtClean="0">
                <a:solidFill>
                  <a:schemeClr val="bg1">
                    <a:lumMod val="95000"/>
                  </a:schemeClr>
                </a:solidFill>
              </a:rPr>
              <a:t>METHODS</a:t>
            </a:r>
          </a:p>
          <a:p>
            <a:endParaRPr lang="en-US" sz="2000" b="1" dirty="0" smtClean="0">
              <a:solidFill>
                <a:schemeClr val="bg1">
                  <a:lumMod val="95000"/>
                </a:schemeClr>
              </a:solidFill>
            </a:endParaRPr>
          </a:p>
          <a:p>
            <a:r>
              <a:rPr lang="en-US" sz="1600" dirty="0" smtClean="0">
                <a:solidFill>
                  <a:schemeClr val="bg1">
                    <a:lumMod val="95000"/>
                  </a:schemeClr>
                </a:solidFill>
              </a:rPr>
              <a:t>📧 Email</a:t>
            </a:r>
          </a:p>
          <a:p>
            <a:endParaRPr lang="en-US" sz="1600" dirty="0" smtClean="0">
              <a:solidFill>
                <a:schemeClr val="bg1">
                  <a:lumMod val="95000"/>
                </a:schemeClr>
              </a:solidFill>
            </a:endParaRPr>
          </a:p>
          <a:p>
            <a:r>
              <a:rPr lang="en-US" sz="1600" dirty="0" smtClean="0">
                <a:solidFill>
                  <a:schemeClr val="bg1">
                    <a:lumMod val="95000"/>
                  </a:schemeClr>
                </a:solidFill>
              </a:rPr>
              <a:t>📱 </a:t>
            </a:r>
            <a:r>
              <a:rPr lang="en-US" sz="1600" dirty="0">
                <a:solidFill>
                  <a:schemeClr val="bg1">
                    <a:lumMod val="95000"/>
                  </a:schemeClr>
                </a:solidFill>
              </a:rPr>
              <a:t>SMS/Text </a:t>
            </a:r>
            <a:r>
              <a:rPr lang="en-US" sz="1600" dirty="0" smtClean="0">
                <a:solidFill>
                  <a:schemeClr val="bg1">
                    <a:lumMod val="95000"/>
                  </a:schemeClr>
                </a:solidFill>
              </a:rPr>
              <a:t>messages</a:t>
            </a:r>
          </a:p>
          <a:p>
            <a:endParaRPr lang="en-US" sz="1600" dirty="0" smtClean="0">
              <a:solidFill>
                <a:schemeClr val="bg1">
                  <a:lumMod val="95000"/>
                </a:schemeClr>
              </a:solidFill>
            </a:endParaRPr>
          </a:p>
          <a:p>
            <a:r>
              <a:rPr lang="en-US" sz="1600" dirty="0" smtClean="0">
                <a:solidFill>
                  <a:schemeClr val="bg1">
                    <a:lumMod val="95000"/>
                  </a:schemeClr>
                </a:solidFill>
              </a:rPr>
              <a:t>🌐 </a:t>
            </a:r>
            <a:r>
              <a:rPr lang="en-US" sz="1600" dirty="0">
                <a:solidFill>
                  <a:schemeClr val="bg1">
                    <a:lumMod val="95000"/>
                  </a:schemeClr>
                </a:solidFill>
              </a:rPr>
              <a:t>Fake </a:t>
            </a:r>
            <a:r>
              <a:rPr lang="en-US" sz="1600" dirty="0" smtClean="0">
                <a:solidFill>
                  <a:schemeClr val="bg1">
                    <a:lumMod val="95000"/>
                  </a:schemeClr>
                </a:solidFill>
              </a:rPr>
              <a:t>websites</a:t>
            </a:r>
          </a:p>
          <a:p>
            <a:endParaRPr lang="en-US" sz="1600" dirty="0" smtClean="0">
              <a:solidFill>
                <a:schemeClr val="bg1">
                  <a:lumMod val="95000"/>
                </a:schemeClr>
              </a:solidFill>
            </a:endParaRPr>
          </a:p>
          <a:p>
            <a:r>
              <a:rPr lang="en-US" sz="1600" dirty="0" smtClean="0">
                <a:solidFill>
                  <a:schemeClr val="bg1">
                    <a:lumMod val="95000"/>
                  </a:schemeClr>
                </a:solidFill>
              </a:rPr>
              <a:t>💬 </a:t>
            </a:r>
            <a:r>
              <a:rPr lang="en-US" sz="1600" dirty="0">
                <a:solidFill>
                  <a:schemeClr val="bg1">
                    <a:lumMod val="95000"/>
                  </a:schemeClr>
                </a:solidFill>
              </a:rPr>
              <a:t>Social media messages</a:t>
            </a:r>
          </a:p>
        </p:txBody>
      </p:sp>
      <p:sp>
        <p:nvSpPr>
          <p:cNvPr id="6" name="Rectangle 5"/>
          <p:cNvSpPr/>
          <p:nvPr/>
        </p:nvSpPr>
        <p:spPr>
          <a:xfrm>
            <a:off x="881764" y="3545169"/>
            <a:ext cx="6246024" cy="2492990"/>
          </a:xfrm>
          <a:prstGeom prst="rect">
            <a:avLst/>
          </a:prstGeom>
        </p:spPr>
        <p:txBody>
          <a:bodyPr wrap="square">
            <a:spAutoFit/>
          </a:bodyPr>
          <a:lstStyle/>
          <a:p>
            <a:r>
              <a:rPr lang="en-US" dirty="0"/>
              <a:t> </a:t>
            </a:r>
            <a:r>
              <a:rPr lang="en-US" sz="2000" b="1" dirty="0">
                <a:solidFill>
                  <a:schemeClr val="bg1">
                    <a:lumMod val="95000"/>
                  </a:schemeClr>
                </a:solidFill>
              </a:rPr>
              <a:t>COMMON </a:t>
            </a:r>
            <a:r>
              <a:rPr lang="en-US" sz="2000" b="1" dirty="0" smtClean="0">
                <a:solidFill>
                  <a:schemeClr val="bg1">
                    <a:lumMod val="95000"/>
                  </a:schemeClr>
                </a:solidFill>
              </a:rPr>
              <a:t>TARGETS</a:t>
            </a:r>
          </a:p>
          <a:p>
            <a:endParaRPr lang="en-US" dirty="0" smtClean="0"/>
          </a:p>
          <a:p>
            <a:r>
              <a:rPr lang="en-US" sz="1600" dirty="0" smtClean="0">
                <a:solidFill>
                  <a:schemeClr val="bg1">
                    <a:lumMod val="95000"/>
                  </a:schemeClr>
                </a:solidFill>
              </a:rPr>
              <a:t>🔑 </a:t>
            </a:r>
            <a:r>
              <a:rPr lang="en-US" sz="1600" dirty="0">
                <a:solidFill>
                  <a:schemeClr val="bg1">
                    <a:lumMod val="95000"/>
                  </a:schemeClr>
                </a:solidFill>
              </a:rPr>
              <a:t>Passwords &amp; login </a:t>
            </a:r>
            <a:r>
              <a:rPr lang="en-US" sz="1600" dirty="0" smtClean="0">
                <a:solidFill>
                  <a:schemeClr val="bg1">
                    <a:lumMod val="95000"/>
                  </a:schemeClr>
                </a:solidFill>
              </a:rPr>
              <a:t>credentials</a:t>
            </a:r>
          </a:p>
          <a:p>
            <a:endParaRPr lang="en-US" sz="1600" dirty="0" smtClean="0">
              <a:solidFill>
                <a:schemeClr val="bg1">
                  <a:lumMod val="95000"/>
                </a:schemeClr>
              </a:solidFill>
            </a:endParaRPr>
          </a:p>
          <a:p>
            <a:r>
              <a:rPr lang="en-US" sz="1600" dirty="0" smtClean="0">
                <a:solidFill>
                  <a:schemeClr val="bg1">
                    <a:lumMod val="95000"/>
                  </a:schemeClr>
                </a:solidFill>
              </a:rPr>
              <a:t>💳 </a:t>
            </a:r>
            <a:r>
              <a:rPr lang="en-US" sz="1600" dirty="0">
                <a:solidFill>
                  <a:schemeClr val="bg1">
                    <a:lumMod val="95000"/>
                  </a:schemeClr>
                </a:solidFill>
              </a:rPr>
              <a:t>Banking &amp; payment </a:t>
            </a:r>
            <a:r>
              <a:rPr lang="en-US" sz="1600" dirty="0" smtClean="0">
                <a:solidFill>
                  <a:schemeClr val="bg1">
                    <a:lumMod val="95000"/>
                  </a:schemeClr>
                </a:solidFill>
              </a:rPr>
              <a:t>information</a:t>
            </a:r>
          </a:p>
          <a:p>
            <a:endParaRPr lang="en-US" sz="1600" dirty="0" smtClean="0">
              <a:solidFill>
                <a:schemeClr val="bg1">
                  <a:lumMod val="95000"/>
                </a:schemeClr>
              </a:solidFill>
            </a:endParaRPr>
          </a:p>
          <a:p>
            <a:r>
              <a:rPr lang="en-US" sz="1600" dirty="0" smtClean="0">
                <a:solidFill>
                  <a:schemeClr val="bg1">
                    <a:lumMod val="95000"/>
                  </a:schemeClr>
                </a:solidFill>
              </a:rPr>
              <a:t>👤 </a:t>
            </a:r>
            <a:r>
              <a:rPr lang="en-US" sz="1600" dirty="0">
                <a:solidFill>
                  <a:schemeClr val="bg1">
                    <a:lumMod val="95000"/>
                  </a:schemeClr>
                </a:solidFill>
              </a:rPr>
              <a:t>Personal </a:t>
            </a:r>
            <a:r>
              <a:rPr lang="en-US" sz="1600" dirty="0" smtClean="0">
                <a:solidFill>
                  <a:schemeClr val="bg1">
                    <a:lumMod val="95000"/>
                  </a:schemeClr>
                </a:solidFill>
              </a:rPr>
              <a:t>information</a:t>
            </a:r>
          </a:p>
          <a:p>
            <a:endParaRPr lang="en-US" sz="1600" dirty="0" smtClean="0">
              <a:solidFill>
                <a:schemeClr val="bg1">
                  <a:lumMod val="95000"/>
                </a:schemeClr>
              </a:solidFill>
            </a:endParaRPr>
          </a:p>
          <a:p>
            <a:r>
              <a:rPr lang="en-US" sz="1600" dirty="0" smtClean="0">
                <a:solidFill>
                  <a:schemeClr val="bg1">
                    <a:lumMod val="95000"/>
                  </a:schemeClr>
                </a:solidFill>
              </a:rPr>
              <a:t>🏢 </a:t>
            </a:r>
            <a:r>
              <a:rPr lang="en-US" sz="1600" dirty="0">
                <a:solidFill>
                  <a:schemeClr val="bg1">
                    <a:lumMod val="95000"/>
                  </a:schemeClr>
                </a:solidFill>
              </a:rPr>
              <a:t>Work or organizational accounts</a:t>
            </a:r>
          </a:p>
        </p:txBody>
      </p:sp>
    </p:spTree>
    <p:extLst>
      <p:ext uri="{BB962C8B-B14F-4D97-AF65-F5344CB8AC3E}">
        <p14:creationId xmlns:p14="http://schemas.microsoft.com/office/powerpoint/2010/main" val="3822696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7537" y="1120371"/>
            <a:ext cx="8825658" cy="2677648"/>
          </a:xfrm>
        </p:spPr>
        <p:txBody>
          <a:bodyPr/>
          <a:lstStyle/>
          <a:p>
            <a:r>
              <a:rPr lang="en-US" sz="2000" b="1" dirty="0" smtClean="0">
                <a:latin typeface="Aptos Display"/>
              </a:rPr>
              <a:t>                            HOW </a:t>
            </a:r>
            <a:r>
              <a:rPr lang="en-US" sz="2000" b="1" dirty="0">
                <a:latin typeface="Aptos Display"/>
              </a:rPr>
              <a:t>PHISHING ATTACKS </a:t>
            </a:r>
            <a:r>
              <a:rPr lang="en-US" sz="2000" b="1" dirty="0" smtClean="0">
                <a:latin typeface="Aptos Display"/>
              </a:rPr>
              <a:t>WORK</a:t>
            </a:r>
            <a:r>
              <a:rPr lang="en-US" sz="2400" dirty="0" smtClean="0">
                <a:latin typeface="Aptos Display"/>
              </a:rPr>
              <a:t/>
            </a:r>
            <a:br>
              <a:rPr lang="en-US" sz="2400" dirty="0" smtClean="0">
                <a:latin typeface="Aptos Display"/>
              </a:rPr>
            </a:br>
            <a:r>
              <a:rPr lang="en-US" sz="2400" dirty="0" smtClean="0">
                <a:latin typeface="Aptos Display"/>
              </a:rPr>
              <a:t/>
            </a:r>
            <a:br>
              <a:rPr lang="en-US" sz="2400" dirty="0" smtClean="0">
                <a:latin typeface="Aptos Display"/>
              </a:rPr>
            </a:br>
            <a:r>
              <a:rPr lang="en-US" sz="1600" b="1" dirty="0" smtClean="0">
                <a:latin typeface="Aptos Display"/>
              </a:rPr>
              <a:t>1. </a:t>
            </a:r>
            <a:r>
              <a:rPr lang="en-US" sz="1600" b="1" dirty="0">
                <a:latin typeface="Aptos Display"/>
              </a:rPr>
              <a:t>CREATE THE </a:t>
            </a:r>
            <a:r>
              <a:rPr lang="en-US" sz="1600" b="1" dirty="0" smtClean="0">
                <a:latin typeface="Aptos Display"/>
              </a:rPr>
              <a:t>BAIT</a:t>
            </a:r>
            <a:br>
              <a:rPr lang="en-US" sz="1600" b="1" dirty="0" smtClean="0">
                <a:latin typeface="Aptos Display"/>
              </a:rPr>
            </a:br>
            <a:r>
              <a:rPr lang="en-US" sz="1400" dirty="0" smtClean="0">
                <a:latin typeface="Aptos Display"/>
              </a:rPr>
              <a:t>Attackers </a:t>
            </a:r>
            <a:r>
              <a:rPr lang="en-US" sz="1400" dirty="0">
                <a:latin typeface="Aptos Display"/>
              </a:rPr>
              <a:t>create a convincing email, message, or </a:t>
            </a:r>
            <a:r>
              <a:rPr lang="en-US" sz="1400" dirty="0" smtClean="0">
                <a:latin typeface="Aptos Display"/>
              </a:rPr>
              <a:t>fake </a:t>
            </a:r>
            <a:r>
              <a:rPr lang="en-US" sz="1400" dirty="0" smtClean="0">
                <a:latin typeface="Aptos Display"/>
              </a:rPr>
              <a:t>website</a:t>
            </a:r>
            <a:br>
              <a:rPr lang="en-US" sz="1400" dirty="0" smtClean="0">
                <a:latin typeface="Aptos Display"/>
              </a:rPr>
            </a:br>
            <a:r>
              <a:rPr lang="en-US" sz="1600" dirty="0" smtClean="0">
                <a:latin typeface="Aptos Display"/>
              </a:rPr>
              <a:t/>
            </a:r>
            <a:br>
              <a:rPr lang="en-US" sz="1600" dirty="0" smtClean="0">
                <a:latin typeface="Aptos Display"/>
              </a:rPr>
            </a:br>
            <a:r>
              <a:rPr lang="en-US" sz="1600" b="1" dirty="0" smtClean="0">
                <a:latin typeface="Aptos Display"/>
              </a:rPr>
              <a:t>2.</a:t>
            </a:r>
            <a:r>
              <a:rPr lang="en-US" sz="1600" dirty="0" smtClean="0">
                <a:latin typeface="Aptos Display"/>
              </a:rPr>
              <a:t> </a:t>
            </a:r>
            <a:r>
              <a:rPr lang="en-US" sz="1800" b="1" dirty="0" smtClean="0">
                <a:latin typeface="Aptos Display"/>
              </a:rPr>
              <a:t>CREATE </a:t>
            </a:r>
            <a:r>
              <a:rPr lang="en-US" sz="1600" b="1" dirty="0" smtClean="0">
                <a:latin typeface="Aptos Display"/>
              </a:rPr>
              <a:t>URGENCY</a:t>
            </a:r>
            <a:br>
              <a:rPr lang="en-US" sz="1600" b="1" dirty="0" smtClean="0">
                <a:latin typeface="Aptos Display"/>
              </a:rPr>
            </a:br>
            <a:r>
              <a:rPr lang="en-US" sz="1400" dirty="0" smtClean="0">
                <a:latin typeface="Aptos Display"/>
              </a:rPr>
              <a:t>They pressure </a:t>
            </a:r>
            <a:r>
              <a:rPr lang="en-US" sz="1400" dirty="0">
                <a:latin typeface="Aptos Display"/>
              </a:rPr>
              <a:t>the victim to act quickly</a:t>
            </a:r>
            <a:r>
              <a:rPr lang="en-US" sz="1400" dirty="0" smtClean="0">
                <a:latin typeface="Aptos Display"/>
              </a:rPr>
              <a:t>.</a:t>
            </a:r>
            <a:br>
              <a:rPr lang="en-US" sz="1400" dirty="0" smtClean="0">
                <a:latin typeface="Aptos Display"/>
              </a:rPr>
            </a:br>
            <a:r>
              <a:rPr lang="en-US" sz="2000" dirty="0" smtClean="0">
                <a:latin typeface="Aptos Display"/>
              </a:rPr>
              <a:t/>
            </a:r>
            <a:br>
              <a:rPr lang="en-US" sz="2000" dirty="0" smtClean="0">
                <a:latin typeface="Aptos Display"/>
              </a:rPr>
            </a:br>
            <a:r>
              <a:rPr lang="en-US" sz="1600" b="1" dirty="0" smtClean="0">
                <a:latin typeface="Aptos Display"/>
              </a:rPr>
              <a:t>3.TRICK </a:t>
            </a:r>
            <a:r>
              <a:rPr lang="en-US" sz="1600" b="1" dirty="0">
                <a:latin typeface="Aptos Display"/>
              </a:rPr>
              <a:t>THE </a:t>
            </a:r>
            <a:r>
              <a:rPr lang="en-US" sz="1600" b="1" dirty="0" smtClean="0">
                <a:latin typeface="Aptos Display"/>
              </a:rPr>
              <a:t>VICTIM</a:t>
            </a:r>
            <a:br>
              <a:rPr lang="en-US" sz="1600" b="1" dirty="0" smtClean="0">
                <a:latin typeface="Aptos Display"/>
              </a:rPr>
            </a:br>
            <a:r>
              <a:rPr lang="en-US" sz="1400" dirty="0" smtClean="0">
                <a:latin typeface="Aptos Display"/>
              </a:rPr>
              <a:t>victim </a:t>
            </a:r>
            <a:r>
              <a:rPr lang="en-US" sz="1400" dirty="0">
                <a:latin typeface="Aptos Display"/>
              </a:rPr>
              <a:t>may click a link, open an attachment, or provide information</a:t>
            </a:r>
            <a:r>
              <a:rPr lang="en-US" sz="1800" dirty="0" smtClean="0">
                <a:latin typeface="Aptos Display"/>
              </a:rPr>
              <a:t>.</a:t>
            </a:r>
            <a:br>
              <a:rPr lang="en-US" sz="1800" dirty="0" smtClean="0">
                <a:latin typeface="Aptos Display"/>
              </a:rPr>
            </a:br>
            <a:endParaRPr lang="en-US" sz="1800" dirty="0">
              <a:latin typeface="Aptos Display"/>
            </a:endParaRPr>
          </a:p>
        </p:txBody>
      </p:sp>
      <p:sp>
        <p:nvSpPr>
          <p:cNvPr id="4" name="Rectangle 3"/>
          <p:cNvSpPr/>
          <p:nvPr/>
        </p:nvSpPr>
        <p:spPr>
          <a:xfrm>
            <a:off x="837537" y="3680102"/>
            <a:ext cx="6096000" cy="1938992"/>
          </a:xfrm>
          <a:prstGeom prst="rect">
            <a:avLst/>
          </a:prstGeom>
        </p:spPr>
        <p:txBody>
          <a:bodyPr>
            <a:spAutoFit/>
          </a:bodyPr>
          <a:lstStyle/>
          <a:p>
            <a:r>
              <a:rPr lang="en-US" sz="1600" b="1" dirty="0" smtClean="0">
                <a:solidFill>
                  <a:schemeClr val="bg1">
                    <a:lumMod val="95000"/>
                  </a:schemeClr>
                </a:solidFill>
              </a:rPr>
              <a:t>4.CAPTURE</a:t>
            </a:r>
            <a:r>
              <a:rPr lang="en-US" b="1" dirty="0" smtClean="0">
                <a:solidFill>
                  <a:schemeClr val="bg1">
                    <a:lumMod val="95000"/>
                  </a:schemeClr>
                </a:solidFill>
              </a:rPr>
              <a:t> </a:t>
            </a:r>
            <a:r>
              <a:rPr lang="en-US" sz="1600" b="1" dirty="0">
                <a:solidFill>
                  <a:schemeClr val="bg1">
                    <a:lumMod val="95000"/>
                  </a:schemeClr>
                </a:solidFill>
              </a:rPr>
              <a:t>OR EXPLOIT </a:t>
            </a:r>
            <a:r>
              <a:rPr lang="en-US" sz="1600" b="1" dirty="0" smtClean="0">
                <a:solidFill>
                  <a:schemeClr val="bg1">
                    <a:lumMod val="95000"/>
                  </a:schemeClr>
                </a:solidFill>
              </a:rPr>
              <a:t>INFORMATION</a:t>
            </a:r>
            <a:endParaRPr lang="en-US" b="1" dirty="0" smtClean="0">
              <a:solidFill>
                <a:schemeClr val="bg1">
                  <a:lumMod val="95000"/>
                </a:schemeClr>
              </a:solidFill>
            </a:endParaRPr>
          </a:p>
          <a:p>
            <a:r>
              <a:rPr lang="en-US" sz="1400" dirty="0" smtClean="0">
                <a:solidFill>
                  <a:schemeClr val="bg1">
                    <a:lumMod val="95000"/>
                  </a:schemeClr>
                </a:solidFill>
              </a:rPr>
              <a:t>Attackers steal </a:t>
            </a:r>
            <a:r>
              <a:rPr lang="en-US" sz="1400" dirty="0">
                <a:solidFill>
                  <a:schemeClr val="bg1">
                    <a:lumMod val="95000"/>
                  </a:schemeClr>
                </a:solidFill>
              </a:rPr>
              <a:t>credentials or use the access they gain</a:t>
            </a:r>
            <a:r>
              <a:rPr lang="en-US" sz="1600" dirty="0" smtClean="0">
                <a:solidFill>
                  <a:schemeClr val="bg1">
                    <a:lumMod val="95000"/>
                  </a:schemeClr>
                </a:solidFill>
              </a:rPr>
              <a:t>.</a:t>
            </a:r>
          </a:p>
          <a:p>
            <a:endParaRPr lang="en-US" sz="1600" dirty="0">
              <a:solidFill>
                <a:schemeClr val="bg1">
                  <a:lumMod val="95000"/>
                </a:schemeClr>
              </a:solidFill>
            </a:endParaRPr>
          </a:p>
          <a:p>
            <a:r>
              <a:rPr lang="en-US" b="1" dirty="0" smtClean="0">
                <a:solidFill>
                  <a:schemeClr val="bg1">
                    <a:lumMod val="95000"/>
                  </a:schemeClr>
                </a:solidFill>
              </a:rPr>
              <a:t>BAIT </a:t>
            </a:r>
            <a:r>
              <a:rPr lang="en-US" b="1" dirty="0">
                <a:solidFill>
                  <a:schemeClr val="bg1">
                    <a:lumMod val="95000"/>
                  </a:schemeClr>
                </a:solidFill>
              </a:rPr>
              <a:t>→ URGENCY → ACTION → </a:t>
            </a:r>
            <a:r>
              <a:rPr lang="en-US" b="1" dirty="0" smtClean="0">
                <a:solidFill>
                  <a:schemeClr val="bg1">
                    <a:lumMod val="95000"/>
                  </a:schemeClr>
                </a:solidFill>
              </a:rPr>
              <a:t>COMPROMISE </a:t>
            </a:r>
          </a:p>
          <a:p>
            <a:endParaRPr lang="en-US" b="1" dirty="0">
              <a:solidFill>
                <a:schemeClr val="bg1">
                  <a:lumMod val="95000"/>
                </a:schemeClr>
              </a:solidFill>
            </a:endParaRPr>
          </a:p>
          <a:p>
            <a:r>
              <a:rPr lang="en-US" dirty="0" smtClean="0">
                <a:solidFill>
                  <a:schemeClr val="bg1">
                    <a:lumMod val="95000"/>
                  </a:schemeClr>
                </a:solidFill>
              </a:rPr>
              <a:t>⚠️</a:t>
            </a:r>
            <a:r>
              <a:rPr lang="en-US" b="1" dirty="0" smtClean="0">
                <a:solidFill>
                  <a:schemeClr val="bg1">
                    <a:lumMod val="95000"/>
                  </a:schemeClr>
                </a:solidFill>
              </a:rPr>
              <a:t> </a:t>
            </a:r>
            <a:r>
              <a:rPr lang="en-US" sz="1600" dirty="0" smtClean="0">
                <a:solidFill>
                  <a:schemeClr val="bg1">
                    <a:lumMod val="95000"/>
                  </a:schemeClr>
                </a:solidFill>
              </a:rPr>
              <a:t>“</a:t>
            </a:r>
            <a:r>
              <a:rPr lang="en-US" sz="1600" dirty="0">
                <a:solidFill>
                  <a:schemeClr val="bg1">
                    <a:lumMod val="95000"/>
                  </a:schemeClr>
                </a:solidFill>
              </a:rPr>
              <a:t>Your bank account will be suspended today. Click here to verify your account.”</a:t>
            </a:r>
          </a:p>
        </p:txBody>
      </p:sp>
    </p:spTree>
    <p:extLst>
      <p:ext uri="{BB962C8B-B14F-4D97-AF65-F5344CB8AC3E}">
        <p14:creationId xmlns:p14="http://schemas.microsoft.com/office/powerpoint/2010/main" val="2367713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35685" y="3133402"/>
            <a:ext cx="8825658" cy="2677648"/>
          </a:xfrm>
        </p:spPr>
        <p:txBody>
          <a:bodyPr/>
          <a:lstStyle/>
          <a:p>
            <a:r>
              <a:rPr lang="en-US" sz="1800" b="1" dirty="0" smtClean="0">
                <a:latin typeface="Aptos Display"/>
              </a:rPr>
              <a:t>                                      HOW </a:t>
            </a:r>
            <a:r>
              <a:rPr lang="en-US" sz="1800" b="1" dirty="0">
                <a:latin typeface="Aptos Display"/>
              </a:rPr>
              <a:t>TO SPOT A PHISHING </a:t>
            </a:r>
            <a:r>
              <a:rPr lang="en-US" sz="1800" b="1" dirty="0" smtClean="0">
                <a:latin typeface="Aptos Display"/>
              </a:rPr>
              <a:t>EMAIL</a:t>
            </a:r>
            <a:br>
              <a:rPr lang="en-US" sz="1800" b="1" dirty="0" smtClean="0">
                <a:latin typeface="Aptos Display"/>
              </a:rPr>
            </a:br>
            <a:r>
              <a:rPr lang="en-US" sz="1800" b="1" dirty="0">
                <a:latin typeface="Aptos Display"/>
              </a:rPr>
              <a:t/>
            </a:r>
            <a:br>
              <a:rPr lang="en-US" sz="1800" b="1" dirty="0">
                <a:latin typeface="Aptos Display"/>
              </a:rPr>
            </a:br>
            <a:r>
              <a:rPr lang="en-US" sz="1400" dirty="0"/>
              <a:t/>
            </a:r>
            <a:br>
              <a:rPr lang="en-US" sz="1400" dirty="0"/>
            </a:br>
            <a:r>
              <a:rPr lang="en-US" sz="1400" dirty="0" smtClean="0">
                <a:latin typeface="Aptos Display"/>
              </a:rPr>
              <a:t>🚩 </a:t>
            </a:r>
            <a:r>
              <a:rPr lang="en-US" sz="1400" b="1" dirty="0" smtClean="0">
                <a:latin typeface="Aptos Display"/>
              </a:rPr>
              <a:t>CHECK </a:t>
            </a:r>
            <a:r>
              <a:rPr lang="en-US" sz="1400" b="1" dirty="0">
                <a:latin typeface="Aptos Display"/>
              </a:rPr>
              <a:t>THE SENDER</a:t>
            </a:r>
            <a:r>
              <a:rPr lang="en-US" sz="1400" b="1" dirty="0"/>
              <a:t/>
            </a:r>
            <a:br>
              <a:rPr lang="en-US" sz="1400" b="1" dirty="0"/>
            </a:br>
            <a:r>
              <a:rPr lang="en-US" sz="1400" dirty="0"/>
              <a:t>Is the email address unfamiliar, unusual, or slightly different from the real organization?</a:t>
            </a:r>
            <a:br>
              <a:rPr lang="en-US" sz="1400" dirty="0"/>
            </a:br>
            <a:r>
              <a:rPr lang="en-US" sz="1400" dirty="0"/>
              <a:t/>
            </a:r>
            <a:br>
              <a:rPr lang="en-US" sz="1400" dirty="0"/>
            </a:br>
            <a:r>
              <a:rPr lang="en-US" sz="1400" b="1" dirty="0"/>
              <a:t>🚩 </a:t>
            </a:r>
            <a:r>
              <a:rPr lang="en-US" sz="1400" b="1" dirty="0" smtClean="0">
                <a:latin typeface="Aptos Display"/>
              </a:rPr>
              <a:t>WATCH </a:t>
            </a:r>
            <a:r>
              <a:rPr lang="en-US" sz="1400" b="1" dirty="0">
                <a:latin typeface="Aptos Display"/>
              </a:rPr>
              <a:t>FOR URGENCY</a:t>
            </a:r>
            <a:br>
              <a:rPr lang="en-US" sz="1400" b="1" dirty="0">
                <a:latin typeface="Aptos Display"/>
              </a:rPr>
            </a:br>
            <a:r>
              <a:rPr lang="en-US" sz="1400" dirty="0">
                <a:latin typeface="Aptos Display"/>
              </a:rPr>
              <a:t>Be careful with messages that pressure you to act immediately.</a:t>
            </a:r>
            <a:br>
              <a:rPr lang="en-US" sz="1400" dirty="0">
                <a:latin typeface="Aptos Display"/>
              </a:rPr>
            </a:br>
            <a:r>
              <a:rPr lang="en-US" sz="1400" dirty="0">
                <a:latin typeface="Aptos Display"/>
              </a:rPr>
              <a:t/>
            </a:r>
            <a:br>
              <a:rPr lang="en-US" sz="1400" dirty="0">
                <a:latin typeface="Aptos Display"/>
              </a:rPr>
            </a:br>
            <a:r>
              <a:rPr lang="en-US" sz="1400" b="1" dirty="0">
                <a:latin typeface="Aptos Display"/>
              </a:rPr>
              <a:t>🚩 CHECK THE LINK</a:t>
            </a:r>
            <a:r>
              <a:rPr lang="en-US" sz="1400" dirty="0">
                <a:latin typeface="Aptos Display"/>
              </a:rPr>
              <a:t/>
            </a:r>
            <a:br>
              <a:rPr lang="en-US" sz="1400" dirty="0">
                <a:latin typeface="Aptos Display"/>
              </a:rPr>
            </a:br>
            <a:r>
              <a:rPr lang="en-US" sz="1400" dirty="0">
                <a:latin typeface="Aptos Display"/>
              </a:rPr>
              <a:t>Hover over links before clicking. Look for suspicious or unfamiliar web addresses.</a:t>
            </a:r>
            <a:br>
              <a:rPr lang="en-US" sz="1400" dirty="0">
                <a:latin typeface="Aptos Display"/>
              </a:rPr>
            </a:br>
            <a:r>
              <a:rPr lang="en-US" sz="1400" dirty="0">
                <a:latin typeface="Aptos Display"/>
              </a:rPr>
              <a:t/>
            </a:r>
            <a:br>
              <a:rPr lang="en-US" sz="1400" dirty="0">
                <a:latin typeface="Aptos Display"/>
              </a:rPr>
            </a:br>
            <a:r>
              <a:rPr lang="en-US" sz="1400" b="1" dirty="0">
                <a:latin typeface="Aptos Display"/>
              </a:rPr>
              <a:t>🚩 LOOK FOR UNEXPECTED ATTACHMENTS</a:t>
            </a:r>
            <a:r>
              <a:rPr lang="en-US" sz="1400" dirty="0">
                <a:latin typeface="Aptos Display"/>
              </a:rPr>
              <a:t/>
            </a:r>
            <a:br>
              <a:rPr lang="en-US" sz="1400" dirty="0">
                <a:latin typeface="Aptos Display"/>
              </a:rPr>
            </a:br>
            <a:r>
              <a:rPr lang="en-US" sz="1400" dirty="0">
                <a:latin typeface="Aptos Display"/>
              </a:rPr>
              <a:t>Be cautious with unexpected attachments, especially from unknown senders.</a:t>
            </a:r>
            <a:br>
              <a:rPr lang="en-US" sz="1400" dirty="0">
                <a:latin typeface="Aptos Display"/>
              </a:rPr>
            </a:br>
            <a:r>
              <a:rPr lang="en-US" sz="1400" dirty="0">
                <a:latin typeface="Aptos Display"/>
              </a:rPr>
              <a:t/>
            </a:r>
            <a:br>
              <a:rPr lang="en-US" sz="1400" dirty="0">
                <a:latin typeface="Aptos Display"/>
              </a:rPr>
            </a:br>
            <a:r>
              <a:rPr lang="en-US" sz="1400" b="1" dirty="0">
                <a:latin typeface="Aptos Display"/>
              </a:rPr>
              <a:t>🚩 DON'T SHARE SENSITIVE INFORMATION</a:t>
            </a:r>
            <a:r>
              <a:rPr lang="en-US" sz="1400" dirty="0">
                <a:latin typeface="Aptos Display"/>
              </a:rPr>
              <a:t/>
            </a:r>
            <a:br>
              <a:rPr lang="en-US" sz="1400" dirty="0">
                <a:latin typeface="Aptos Display"/>
              </a:rPr>
            </a:br>
            <a:r>
              <a:rPr lang="en-US" sz="1400" dirty="0">
                <a:latin typeface="Aptos Display"/>
              </a:rPr>
              <a:t>Legitimate organizations generally won't ask you to send passwords or sensitive information through email</a:t>
            </a:r>
            <a:r>
              <a:rPr lang="en-US" sz="1400" dirty="0" smtClean="0">
                <a:latin typeface="Aptos Display"/>
              </a:rPr>
              <a:t>.</a:t>
            </a:r>
            <a:br>
              <a:rPr lang="en-US" sz="1400" dirty="0" smtClean="0">
                <a:latin typeface="Aptos Display"/>
              </a:rPr>
            </a:br>
            <a:r>
              <a:rPr lang="en-US" sz="1400" dirty="0">
                <a:latin typeface="Aptos Display"/>
              </a:rPr>
              <a:t/>
            </a:r>
            <a:br>
              <a:rPr lang="en-US" sz="1400" dirty="0">
                <a:latin typeface="Aptos Display"/>
              </a:rPr>
            </a:br>
            <a:r>
              <a:rPr lang="en-US" sz="1400" dirty="0">
                <a:latin typeface="Aptos Display"/>
              </a:rPr>
              <a:t/>
            </a:r>
            <a:br>
              <a:rPr lang="en-US" sz="1400" dirty="0">
                <a:latin typeface="Aptos Display"/>
              </a:rPr>
            </a:br>
            <a:r>
              <a:rPr lang="en-US" sz="1400" dirty="0" smtClean="0">
                <a:latin typeface="Aptos Display"/>
              </a:rPr>
              <a:t>     </a:t>
            </a:r>
            <a:r>
              <a:rPr lang="en-US" sz="1400" b="1" dirty="0" smtClean="0">
                <a:latin typeface="Aptos Display"/>
              </a:rPr>
              <a:t>REMEMBER</a:t>
            </a:r>
            <a:r>
              <a:rPr lang="en-US" sz="1400" b="1" dirty="0">
                <a:latin typeface="Aptos Display"/>
              </a:rPr>
              <a:t>: STOP → CHECK → VERIFY</a:t>
            </a:r>
          </a:p>
        </p:txBody>
      </p:sp>
    </p:spTree>
    <p:extLst>
      <p:ext uri="{BB962C8B-B14F-4D97-AF65-F5344CB8AC3E}">
        <p14:creationId xmlns:p14="http://schemas.microsoft.com/office/powerpoint/2010/main" val="432898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02946" y="510087"/>
            <a:ext cx="5002006" cy="5430740"/>
          </a:xfrm>
        </p:spPr>
        <p:txBody>
          <a:bodyPr/>
          <a:lstStyle/>
          <a:p>
            <a:r>
              <a:rPr lang="en-US" sz="1600" dirty="0" smtClean="0"/>
              <a:t/>
            </a:r>
            <a:br>
              <a:rPr lang="en-US" sz="1600" dirty="0" smtClean="0"/>
            </a:br>
            <a:r>
              <a:rPr lang="en-US" sz="1600" dirty="0"/>
              <a:t/>
            </a:r>
            <a:br>
              <a:rPr lang="en-US" sz="1600" dirty="0"/>
            </a:br>
            <a:r>
              <a:rPr lang="en-US" sz="1800" b="1" dirty="0" smtClean="0">
                <a:latin typeface="Aptos Display"/>
              </a:rPr>
              <a:t>HOW </a:t>
            </a:r>
            <a:r>
              <a:rPr lang="en-US" sz="1800" b="1" dirty="0">
                <a:latin typeface="Aptos Display"/>
              </a:rPr>
              <a:t>TO SPOT A FAKE </a:t>
            </a:r>
            <a:r>
              <a:rPr lang="en-US" sz="1800" b="1" dirty="0" smtClean="0">
                <a:latin typeface="Aptos Display"/>
              </a:rPr>
              <a:t>WEBSITE</a:t>
            </a:r>
            <a:r>
              <a:rPr lang="en-US" sz="1600" dirty="0" smtClean="0">
                <a:latin typeface="Aptos Display"/>
              </a:rPr>
              <a:t/>
            </a:r>
            <a:br>
              <a:rPr lang="en-US" sz="1600" dirty="0" smtClean="0">
                <a:latin typeface="Aptos Display"/>
              </a:rPr>
            </a:br>
            <a:r>
              <a:rPr lang="en-US" sz="1600" dirty="0" smtClean="0">
                <a:latin typeface="Aptos Display"/>
              </a:rPr>
              <a:t/>
            </a:r>
            <a:br>
              <a:rPr lang="en-US" sz="1600" dirty="0" smtClean="0">
                <a:latin typeface="Aptos Display"/>
              </a:rPr>
            </a:br>
            <a:r>
              <a:rPr lang="en-US" sz="1500" b="1" dirty="0" smtClean="0">
                <a:latin typeface="Aptos Display"/>
              </a:rPr>
              <a:t>🔗 CHECK </a:t>
            </a:r>
            <a:r>
              <a:rPr lang="en-US" sz="1500" b="1" dirty="0">
                <a:latin typeface="Aptos Display"/>
              </a:rPr>
              <a:t>THE WEBSITE </a:t>
            </a:r>
            <a:r>
              <a:rPr lang="en-US" sz="1500" b="1" dirty="0" smtClean="0">
                <a:latin typeface="Aptos Display"/>
              </a:rPr>
              <a:t>ADDRESS</a:t>
            </a:r>
            <a:br>
              <a:rPr lang="en-US" sz="1500" b="1" dirty="0" smtClean="0">
                <a:latin typeface="Aptos Display"/>
              </a:rPr>
            </a:br>
            <a:r>
              <a:rPr lang="en-US" sz="1500" b="1" dirty="0" smtClean="0">
                <a:latin typeface="Aptos Display"/>
              </a:rPr>
              <a:t> </a:t>
            </a:r>
            <a:r>
              <a:rPr lang="en-US" sz="1400" dirty="0" smtClean="0">
                <a:latin typeface="Aptos Display"/>
              </a:rPr>
              <a:t>Look </a:t>
            </a:r>
            <a:r>
              <a:rPr lang="en-US" sz="1400" dirty="0">
                <a:latin typeface="Aptos Display"/>
              </a:rPr>
              <a:t>carefully for misspellings, unusual domains, or extra characters in the URL</a:t>
            </a:r>
            <a:r>
              <a:rPr lang="en-US" sz="1400" dirty="0" smtClean="0">
                <a:latin typeface="Aptos Display"/>
              </a:rPr>
              <a:t>.</a:t>
            </a:r>
            <a:br>
              <a:rPr lang="en-US" sz="1400" dirty="0" smtClean="0">
                <a:latin typeface="Aptos Display"/>
              </a:rPr>
            </a:br>
            <a:r>
              <a:rPr lang="en-US" sz="1600" dirty="0" smtClean="0">
                <a:latin typeface="Aptos Display"/>
              </a:rPr>
              <a:t/>
            </a:r>
            <a:br>
              <a:rPr lang="en-US" sz="1600" dirty="0" smtClean="0">
                <a:latin typeface="Aptos Display"/>
              </a:rPr>
            </a:br>
            <a:r>
              <a:rPr lang="en-US" sz="1500" b="1" dirty="0" smtClean="0">
                <a:latin typeface="Aptos Display"/>
              </a:rPr>
              <a:t>🔒 LOOK </a:t>
            </a:r>
            <a:r>
              <a:rPr lang="en-US" sz="1500" b="1" dirty="0">
                <a:latin typeface="Aptos Display"/>
              </a:rPr>
              <a:t>FOR HTTPS — BUT DON'T RELY ON IT </a:t>
            </a:r>
            <a:r>
              <a:rPr lang="en-US" sz="1500" b="1" dirty="0" smtClean="0">
                <a:latin typeface="Aptos Display"/>
              </a:rPr>
              <a:t>ALONE </a:t>
            </a:r>
            <a:r>
              <a:rPr lang="en-US" sz="1600" dirty="0" smtClean="0">
                <a:latin typeface="Aptos Display"/>
              </a:rPr>
              <a:t/>
            </a:r>
            <a:br>
              <a:rPr lang="en-US" sz="1600" dirty="0" smtClean="0">
                <a:latin typeface="Aptos Display"/>
              </a:rPr>
            </a:br>
            <a:r>
              <a:rPr lang="en-US" sz="1400" dirty="0" smtClean="0">
                <a:latin typeface="Aptos Display"/>
              </a:rPr>
              <a:t>HTTPS </a:t>
            </a:r>
            <a:r>
              <a:rPr lang="en-US" sz="1400" dirty="0">
                <a:latin typeface="Aptos Display"/>
              </a:rPr>
              <a:t>means the connection is encrypted, but it does not automatically mean the website is legitimate</a:t>
            </a:r>
            <a:r>
              <a:rPr lang="en-US" sz="1600" dirty="0" smtClean="0">
                <a:latin typeface="Aptos Display"/>
              </a:rPr>
              <a:t>.</a:t>
            </a:r>
            <a:br>
              <a:rPr lang="en-US" sz="1600" dirty="0" smtClean="0">
                <a:latin typeface="Aptos Display"/>
              </a:rPr>
            </a:br>
            <a:r>
              <a:rPr lang="en-US" sz="1600" dirty="0" smtClean="0">
                <a:latin typeface="Aptos Display"/>
              </a:rPr>
              <a:t/>
            </a:r>
            <a:br>
              <a:rPr lang="en-US" sz="1600" dirty="0" smtClean="0">
                <a:latin typeface="Aptos Display"/>
              </a:rPr>
            </a:br>
            <a:r>
              <a:rPr lang="en-US" sz="1500" b="1" dirty="0" smtClean="0">
                <a:latin typeface="Aptos Display"/>
              </a:rPr>
              <a:t>🏢 VERIFY </a:t>
            </a:r>
            <a:r>
              <a:rPr lang="en-US" sz="1500" b="1" dirty="0">
                <a:latin typeface="Aptos Display"/>
              </a:rPr>
              <a:t>THE </a:t>
            </a:r>
            <a:r>
              <a:rPr lang="en-US" sz="1500" b="1" dirty="0" smtClean="0">
                <a:latin typeface="Aptos Display"/>
              </a:rPr>
              <a:t>ORGANIZATION</a:t>
            </a:r>
            <a:r>
              <a:rPr lang="en-US" sz="1600" dirty="0" smtClean="0">
                <a:latin typeface="Aptos Display"/>
              </a:rPr>
              <a:t/>
            </a:r>
            <a:br>
              <a:rPr lang="en-US" sz="1600" dirty="0" smtClean="0">
                <a:latin typeface="Aptos Display"/>
              </a:rPr>
            </a:br>
            <a:r>
              <a:rPr lang="en-US" sz="1400" dirty="0" smtClean="0">
                <a:latin typeface="Aptos Display"/>
              </a:rPr>
              <a:t>Use </a:t>
            </a:r>
            <a:r>
              <a:rPr lang="en-US" sz="1400" dirty="0">
                <a:latin typeface="Aptos Display"/>
              </a:rPr>
              <a:t>the organization's official website or trusted contact information to confirm the site</a:t>
            </a:r>
            <a:r>
              <a:rPr lang="en-US" sz="1400" dirty="0" smtClean="0">
                <a:latin typeface="Aptos Display"/>
              </a:rPr>
              <a:t>.</a:t>
            </a:r>
            <a:br>
              <a:rPr lang="en-US" sz="1400" dirty="0" smtClean="0">
                <a:latin typeface="Aptos Display"/>
              </a:rPr>
            </a:br>
            <a:r>
              <a:rPr lang="en-US" sz="1600" dirty="0" smtClean="0">
                <a:latin typeface="Aptos Display"/>
              </a:rPr>
              <a:t/>
            </a:r>
            <a:br>
              <a:rPr lang="en-US" sz="1600" dirty="0" smtClean="0">
                <a:latin typeface="Aptos Display"/>
              </a:rPr>
            </a:br>
            <a:r>
              <a:rPr lang="en-US" sz="1500" b="1" dirty="0" smtClean="0">
                <a:latin typeface="Aptos Display"/>
              </a:rPr>
              <a:t>⚠️ WATCH </a:t>
            </a:r>
            <a:r>
              <a:rPr lang="en-US" sz="1500" b="1" dirty="0">
                <a:latin typeface="Aptos Display"/>
              </a:rPr>
              <a:t>FOR SUSPICIOUS </a:t>
            </a:r>
            <a:r>
              <a:rPr lang="en-US" sz="1500" b="1" dirty="0" smtClean="0">
                <a:latin typeface="Aptos Display"/>
              </a:rPr>
              <a:t>DESIGN</a:t>
            </a:r>
            <a:r>
              <a:rPr lang="en-US" sz="1600" dirty="0" smtClean="0">
                <a:latin typeface="Aptos Display"/>
              </a:rPr>
              <a:t/>
            </a:r>
            <a:br>
              <a:rPr lang="en-US" sz="1600" dirty="0" smtClean="0">
                <a:latin typeface="Aptos Display"/>
              </a:rPr>
            </a:br>
            <a:r>
              <a:rPr lang="en-US" sz="1400" dirty="0" smtClean="0">
                <a:latin typeface="Aptos Display"/>
              </a:rPr>
              <a:t>Poor </a:t>
            </a:r>
            <a:r>
              <a:rPr lang="en-US" sz="1400" dirty="0">
                <a:latin typeface="Aptos Display"/>
              </a:rPr>
              <a:t>grammar, unusual pop-ups, broken links, or copied logos can be warning signs</a:t>
            </a:r>
            <a:r>
              <a:rPr lang="en-US" sz="1600" dirty="0" smtClean="0">
                <a:latin typeface="Aptos Display"/>
              </a:rPr>
              <a:t>.</a:t>
            </a:r>
            <a:br>
              <a:rPr lang="en-US" sz="1600" dirty="0" smtClean="0">
                <a:latin typeface="Aptos Display"/>
              </a:rPr>
            </a:br>
            <a:r>
              <a:rPr lang="en-US" sz="1600" dirty="0" smtClean="0">
                <a:latin typeface="Aptos Display"/>
              </a:rPr>
              <a:t/>
            </a:r>
            <a:br>
              <a:rPr lang="en-US" sz="1600" dirty="0" smtClean="0">
                <a:latin typeface="Aptos Display"/>
              </a:rPr>
            </a:br>
            <a:r>
              <a:rPr lang="en-US" sz="1500" b="1" dirty="0" smtClean="0">
                <a:latin typeface="Aptos Display"/>
              </a:rPr>
              <a:t>🔑 BE </a:t>
            </a:r>
            <a:r>
              <a:rPr lang="en-US" sz="1500" b="1" dirty="0">
                <a:latin typeface="Aptos Display"/>
              </a:rPr>
              <a:t>CAREFUL WITH LOGIN </a:t>
            </a:r>
            <a:r>
              <a:rPr lang="en-US" sz="1500" b="1" dirty="0" smtClean="0">
                <a:latin typeface="Aptos Display"/>
              </a:rPr>
              <a:t>PAGES</a:t>
            </a:r>
            <a:r>
              <a:rPr lang="en-US" sz="1600" dirty="0" smtClean="0">
                <a:latin typeface="Aptos Display"/>
              </a:rPr>
              <a:t/>
            </a:r>
            <a:br>
              <a:rPr lang="en-US" sz="1600" dirty="0" smtClean="0">
                <a:latin typeface="Aptos Display"/>
              </a:rPr>
            </a:br>
            <a:r>
              <a:rPr lang="en-US" sz="1400" dirty="0" smtClean="0">
                <a:latin typeface="Aptos Display"/>
              </a:rPr>
              <a:t>Don't </a:t>
            </a:r>
            <a:r>
              <a:rPr lang="en-US" sz="1400" dirty="0">
                <a:latin typeface="Aptos Display"/>
              </a:rPr>
              <a:t>enter passwords or sensitive information until you are sure the website is </a:t>
            </a:r>
            <a:r>
              <a:rPr lang="en-US" sz="1400" dirty="0" smtClean="0">
                <a:latin typeface="Aptos Display"/>
              </a:rPr>
              <a:t>genuine</a:t>
            </a:r>
            <a:r>
              <a:rPr lang="en-US" sz="1600" dirty="0" smtClean="0">
                <a:latin typeface="Aptos Display"/>
              </a:rPr>
              <a:t>.</a:t>
            </a:r>
            <a:endParaRPr lang="en-US" sz="1600" dirty="0">
              <a:latin typeface="Aptos Display"/>
            </a:endParaRPr>
          </a:p>
        </p:txBody>
      </p:sp>
      <p:sp>
        <p:nvSpPr>
          <p:cNvPr id="4" name="Rectangle 3"/>
          <p:cNvSpPr/>
          <p:nvPr/>
        </p:nvSpPr>
        <p:spPr>
          <a:xfrm>
            <a:off x="6480315" y="771277"/>
            <a:ext cx="5208104" cy="4139595"/>
          </a:xfrm>
          <a:prstGeom prst="rect">
            <a:avLst/>
          </a:prstGeom>
        </p:spPr>
        <p:txBody>
          <a:bodyPr wrap="square">
            <a:spAutoFit/>
          </a:bodyPr>
          <a:lstStyle/>
          <a:p>
            <a:r>
              <a:rPr lang="en-US" b="1" dirty="0" smtClean="0">
                <a:solidFill>
                  <a:schemeClr val="bg1">
                    <a:lumMod val="95000"/>
                  </a:schemeClr>
                </a:solidFill>
                <a:latin typeface="Aptos Display"/>
              </a:rPr>
              <a:t>🚨 FAKE </a:t>
            </a:r>
            <a:r>
              <a:rPr lang="en-US" b="1" dirty="0">
                <a:solidFill>
                  <a:schemeClr val="bg1">
                    <a:lumMod val="95000"/>
                  </a:schemeClr>
                </a:solidFill>
                <a:latin typeface="Aptos Display"/>
              </a:rPr>
              <a:t>WEBSITE </a:t>
            </a:r>
            <a:r>
              <a:rPr lang="en-US" b="1" dirty="0" smtClean="0">
                <a:solidFill>
                  <a:schemeClr val="bg1">
                    <a:lumMod val="95000"/>
                  </a:schemeClr>
                </a:solidFill>
                <a:latin typeface="Aptos Display"/>
              </a:rPr>
              <a:t>EXAMPLE</a:t>
            </a:r>
          </a:p>
          <a:p>
            <a:endParaRPr lang="en-US" b="1" dirty="0" smtClean="0">
              <a:latin typeface="Aptos Display"/>
            </a:endParaRPr>
          </a:p>
          <a:p>
            <a:r>
              <a:rPr lang="en-US" sz="1400" b="1" dirty="0" smtClean="0">
                <a:solidFill>
                  <a:schemeClr val="bg1">
                    <a:lumMod val="95000"/>
                  </a:schemeClr>
                </a:solidFill>
                <a:latin typeface="Aptos Display"/>
              </a:rPr>
              <a:t>⚠️ Your </a:t>
            </a:r>
            <a:r>
              <a:rPr lang="en-US" sz="1400" b="1" dirty="0">
                <a:solidFill>
                  <a:schemeClr val="bg1">
                    <a:lumMod val="95000"/>
                  </a:schemeClr>
                </a:solidFill>
                <a:latin typeface="Aptos Display"/>
              </a:rPr>
              <a:t>Account Has Been </a:t>
            </a:r>
            <a:r>
              <a:rPr lang="en-US" sz="1400" b="1" dirty="0" smtClean="0">
                <a:solidFill>
                  <a:schemeClr val="bg1">
                    <a:lumMod val="95000"/>
                  </a:schemeClr>
                </a:solidFill>
                <a:latin typeface="Aptos Display"/>
              </a:rPr>
              <a:t>Suspended!</a:t>
            </a:r>
          </a:p>
          <a:p>
            <a:endParaRPr lang="en-US" sz="1400" dirty="0" smtClean="0">
              <a:solidFill>
                <a:schemeClr val="bg1">
                  <a:lumMod val="95000"/>
                </a:schemeClr>
              </a:solidFill>
              <a:latin typeface="Aptos Display"/>
            </a:endParaRPr>
          </a:p>
          <a:p>
            <a:r>
              <a:rPr lang="en-US" sz="1400" dirty="0" smtClean="0">
                <a:solidFill>
                  <a:schemeClr val="bg1">
                    <a:lumMod val="95000"/>
                  </a:schemeClr>
                </a:solidFill>
                <a:latin typeface="Aptos Display"/>
              </a:rPr>
              <a:t>Verify </a:t>
            </a:r>
            <a:r>
              <a:rPr lang="en-US" sz="1400" dirty="0">
                <a:solidFill>
                  <a:schemeClr val="bg1">
                    <a:lumMod val="95000"/>
                  </a:schemeClr>
                </a:solidFill>
                <a:latin typeface="Aptos Display"/>
              </a:rPr>
              <a:t>your account immediately to avoid losing access</a:t>
            </a:r>
            <a:r>
              <a:rPr lang="en-US" dirty="0" smtClean="0">
                <a:solidFill>
                  <a:schemeClr val="bg1">
                    <a:lumMod val="95000"/>
                  </a:schemeClr>
                </a:solidFill>
                <a:latin typeface="Aptos Display"/>
              </a:rPr>
              <a:t>.</a:t>
            </a:r>
          </a:p>
          <a:p>
            <a:endParaRPr lang="en-US" dirty="0" smtClean="0">
              <a:solidFill>
                <a:schemeClr val="bg1">
                  <a:lumMod val="95000"/>
                </a:schemeClr>
              </a:solidFill>
              <a:latin typeface="Aptos Display"/>
            </a:endParaRPr>
          </a:p>
          <a:p>
            <a:endParaRPr lang="en-US" dirty="0">
              <a:solidFill>
                <a:schemeClr val="bg1">
                  <a:lumMod val="95000"/>
                </a:schemeClr>
              </a:solidFill>
              <a:latin typeface="Aptos Display"/>
            </a:endParaRPr>
          </a:p>
          <a:p>
            <a:r>
              <a:rPr lang="en-US" sz="1400" dirty="0" smtClean="0">
                <a:solidFill>
                  <a:schemeClr val="bg1">
                    <a:lumMod val="95000"/>
                  </a:schemeClr>
                </a:solidFill>
                <a:latin typeface="Aptos Display"/>
              </a:rPr>
              <a:t>Email</a:t>
            </a:r>
            <a:r>
              <a:rPr lang="en-US" sz="1400" dirty="0">
                <a:solidFill>
                  <a:schemeClr val="bg1">
                    <a:lumMod val="95000"/>
                  </a:schemeClr>
                </a:solidFill>
                <a:latin typeface="Aptos Display"/>
              </a:rPr>
              <a:t>: </a:t>
            </a:r>
            <a:r>
              <a:rPr lang="en-US" sz="1400" dirty="0" smtClean="0">
                <a:solidFill>
                  <a:schemeClr val="bg1">
                    <a:lumMod val="95000"/>
                  </a:schemeClr>
                </a:solidFill>
                <a:latin typeface="Aptos Display"/>
              </a:rPr>
              <a:t>______</a:t>
            </a:r>
          </a:p>
          <a:p>
            <a:endParaRPr lang="en-US" sz="1400" dirty="0" smtClean="0">
              <a:solidFill>
                <a:schemeClr val="bg1">
                  <a:lumMod val="95000"/>
                </a:schemeClr>
              </a:solidFill>
              <a:latin typeface="Aptos Display"/>
            </a:endParaRPr>
          </a:p>
          <a:p>
            <a:endParaRPr lang="en-US" sz="1400" dirty="0" smtClean="0">
              <a:solidFill>
                <a:schemeClr val="bg1">
                  <a:lumMod val="95000"/>
                </a:schemeClr>
              </a:solidFill>
              <a:latin typeface="Aptos Display"/>
            </a:endParaRPr>
          </a:p>
          <a:p>
            <a:r>
              <a:rPr lang="en-US" sz="1400" dirty="0" smtClean="0">
                <a:solidFill>
                  <a:schemeClr val="bg1">
                    <a:lumMod val="95000"/>
                  </a:schemeClr>
                </a:solidFill>
                <a:latin typeface="Aptos Display"/>
              </a:rPr>
              <a:t>Password</a:t>
            </a:r>
            <a:r>
              <a:rPr lang="en-US" sz="1400" dirty="0">
                <a:solidFill>
                  <a:schemeClr val="bg1">
                    <a:lumMod val="95000"/>
                  </a:schemeClr>
                </a:solidFill>
                <a:latin typeface="Aptos Display"/>
              </a:rPr>
              <a:t>: </a:t>
            </a:r>
            <a:r>
              <a:rPr lang="en-US" sz="1400" dirty="0" smtClean="0">
                <a:solidFill>
                  <a:schemeClr val="bg1">
                    <a:lumMod val="95000"/>
                  </a:schemeClr>
                </a:solidFill>
                <a:latin typeface="Aptos Display"/>
              </a:rPr>
              <a:t>_____</a:t>
            </a:r>
          </a:p>
          <a:p>
            <a:endParaRPr lang="en-US" sz="1400" dirty="0">
              <a:solidFill>
                <a:schemeClr val="bg1">
                  <a:lumMod val="95000"/>
                </a:schemeClr>
              </a:solidFill>
              <a:latin typeface="Aptos Display"/>
            </a:endParaRPr>
          </a:p>
          <a:p>
            <a:r>
              <a:rPr lang="en-US" sz="1500" b="1" dirty="0" smtClean="0">
                <a:solidFill>
                  <a:schemeClr val="bg1">
                    <a:lumMod val="95000"/>
                  </a:schemeClr>
                </a:solidFill>
                <a:latin typeface="Aptos Display"/>
              </a:rPr>
              <a:t>🔴 VERIFY NOW</a:t>
            </a:r>
          </a:p>
          <a:p>
            <a:r>
              <a:rPr lang="en-US" sz="1400" dirty="0" smtClean="0">
                <a:solidFill>
                  <a:schemeClr val="bg1">
                    <a:lumMod val="95000"/>
                  </a:schemeClr>
                </a:solidFill>
                <a:latin typeface="Aptos Display"/>
              </a:rPr>
              <a:t>⚠️ </a:t>
            </a:r>
            <a:r>
              <a:rPr lang="en-US" sz="1400" dirty="0">
                <a:solidFill>
                  <a:schemeClr val="bg1">
                    <a:lumMod val="95000"/>
                  </a:schemeClr>
                </a:solidFill>
                <a:latin typeface="Aptos Display"/>
              </a:rPr>
              <a:t>Urgent </a:t>
            </a:r>
            <a:r>
              <a:rPr lang="en-US" sz="1400" dirty="0" smtClean="0">
                <a:solidFill>
                  <a:schemeClr val="bg1">
                    <a:lumMod val="95000"/>
                  </a:schemeClr>
                </a:solidFill>
                <a:latin typeface="Aptos Display"/>
              </a:rPr>
              <a:t>language</a:t>
            </a:r>
          </a:p>
          <a:p>
            <a:r>
              <a:rPr lang="en-US" sz="1400" dirty="0" smtClean="0">
                <a:solidFill>
                  <a:schemeClr val="bg1">
                    <a:lumMod val="95000"/>
                  </a:schemeClr>
                </a:solidFill>
                <a:latin typeface="Aptos Display"/>
              </a:rPr>
              <a:t>⚠️ </a:t>
            </a:r>
            <a:r>
              <a:rPr lang="en-US" sz="1400" dirty="0">
                <a:solidFill>
                  <a:schemeClr val="bg1">
                    <a:lumMod val="95000"/>
                  </a:schemeClr>
                </a:solidFill>
                <a:latin typeface="Aptos Display"/>
              </a:rPr>
              <a:t>Suspicious </a:t>
            </a:r>
            <a:r>
              <a:rPr lang="en-US" sz="1400" dirty="0" smtClean="0">
                <a:solidFill>
                  <a:schemeClr val="bg1">
                    <a:lumMod val="95000"/>
                  </a:schemeClr>
                </a:solidFill>
                <a:latin typeface="Aptos Display"/>
              </a:rPr>
              <a:t>URL</a:t>
            </a:r>
          </a:p>
          <a:p>
            <a:r>
              <a:rPr lang="en-US" sz="1400" dirty="0" smtClean="0">
                <a:solidFill>
                  <a:schemeClr val="bg1">
                    <a:lumMod val="95000"/>
                  </a:schemeClr>
                </a:solidFill>
                <a:latin typeface="Aptos Display"/>
              </a:rPr>
              <a:t>⚠️ </a:t>
            </a:r>
            <a:r>
              <a:rPr lang="en-US" sz="1400" dirty="0">
                <a:solidFill>
                  <a:schemeClr val="bg1">
                    <a:lumMod val="95000"/>
                  </a:schemeClr>
                </a:solidFill>
                <a:latin typeface="Aptos Display"/>
              </a:rPr>
              <a:t>Requests for </a:t>
            </a:r>
            <a:r>
              <a:rPr lang="en-US" sz="1400" dirty="0" smtClean="0">
                <a:solidFill>
                  <a:schemeClr val="bg1">
                    <a:lumMod val="95000"/>
                  </a:schemeClr>
                </a:solidFill>
                <a:latin typeface="Aptos Display"/>
              </a:rPr>
              <a:t>credentials</a:t>
            </a:r>
          </a:p>
          <a:p>
            <a:endParaRPr lang="en-US" dirty="0">
              <a:latin typeface="Aptos Display"/>
            </a:endParaRPr>
          </a:p>
        </p:txBody>
      </p:sp>
      <p:sp>
        <p:nvSpPr>
          <p:cNvPr id="5" name="Rectangle 4"/>
          <p:cNvSpPr/>
          <p:nvPr/>
        </p:nvSpPr>
        <p:spPr>
          <a:xfrm>
            <a:off x="5504952" y="5515079"/>
            <a:ext cx="6096000" cy="553998"/>
          </a:xfrm>
          <a:prstGeom prst="rect">
            <a:avLst/>
          </a:prstGeom>
        </p:spPr>
        <p:txBody>
          <a:bodyPr>
            <a:spAutoFit/>
          </a:bodyPr>
          <a:lstStyle/>
          <a:p>
            <a:r>
              <a:rPr lang="en-US" sz="1500" b="1" dirty="0" smtClean="0">
                <a:solidFill>
                  <a:schemeClr val="bg1">
                    <a:lumMod val="95000"/>
                  </a:schemeClr>
                </a:solidFill>
                <a:latin typeface="Aptos Display"/>
              </a:rPr>
              <a:t>REMEMBER</a:t>
            </a:r>
            <a:r>
              <a:rPr lang="en-US" sz="1500" b="1" dirty="0">
                <a:solidFill>
                  <a:schemeClr val="bg1">
                    <a:lumMod val="95000"/>
                  </a:schemeClr>
                </a:solidFill>
                <a:latin typeface="Aptos Display"/>
              </a:rPr>
              <a:t>: CHECK THE URL → VERIFY THE SITE → THEN </a:t>
            </a:r>
            <a:r>
              <a:rPr lang="en-US" sz="1500" b="1" dirty="0" smtClean="0">
                <a:solidFill>
                  <a:schemeClr val="bg1">
                    <a:lumMod val="95000"/>
                  </a:schemeClr>
                </a:solidFill>
                <a:latin typeface="Aptos Display"/>
              </a:rPr>
              <a:t>PROCEED</a:t>
            </a:r>
            <a:endParaRPr lang="en-US" sz="1500" b="1" dirty="0">
              <a:solidFill>
                <a:schemeClr val="bg1">
                  <a:lumMod val="95000"/>
                </a:schemeClr>
              </a:solidFill>
              <a:latin typeface="Aptos Display"/>
            </a:endParaRPr>
          </a:p>
        </p:txBody>
      </p:sp>
    </p:spTree>
    <p:extLst>
      <p:ext uri="{BB962C8B-B14F-4D97-AF65-F5344CB8AC3E}">
        <p14:creationId xmlns:p14="http://schemas.microsoft.com/office/powerpoint/2010/main" val="898407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12479" y="-746835"/>
            <a:ext cx="8825658" cy="2677648"/>
          </a:xfrm>
        </p:spPr>
        <p:txBody>
          <a:bodyPr/>
          <a:lstStyle/>
          <a:p>
            <a:r>
              <a:rPr lang="en-US" sz="1800" dirty="0" smtClean="0">
                <a:latin typeface="Aptos Display"/>
              </a:rPr>
              <a:t>                     </a:t>
            </a:r>
            <a:br>
              <a:rPr lang="en-US" sz="1800" dirty="0" smtClean="0">
                <a:latin typeface="Aptos Display"/>
              </a:rPr>
            </a:br>
            <a:r>
              <a:rPr lang="en-US" sz="1800" dirty="0">
                <a:latin typeface="Aptos Display"/>
              </a:rPr>
              <a:t/>
            </a:r>
            <a:br>
              <a:rPr lang="en-US" sz="1800" dirty="0">
                <a:latin typeface="Aptos Display"/>
              </a:rPr>
            </a:br>
            <a:r>
              <a:rPr lang="en-US" sz="1800" dirty="0" smtClean="0">
                <a:latin typeface="Aptos Display"/>
              </a:rPr>
              <a:t/>
            </a:r>
            <a:br>
              <a:rPr lang="en-US" sz="1800" dirty="0" smtClean="0">
                <a:latin typeface="Aptos Display"/>
              </a:rPr>
            </a:br>
            <a:r>
              <a:rPr lang="en-US" sz="1800" dirty="0" smtClean="0">
                <a:latin typeface="Aptos Display"/>
              </a:rPr>
              <a:t>                                </a:t>
            </a:r>
            <a:r>
              <a:rPr lang="en-US" sz="1800" b="1" dirty="0" smtClean="0">
                <a:latin typeface="Aptos Display"/>
              </a:rPr>
              <a:t>SOCIAL </a:t>
            </a:r>
            <a:r>
              <a:rPr lang="en-US" sz="1800" b="1" dirty="0">
                <a:latin typeface="Aptos Display"/>
              </a:rPr>
              <a:t>ENGINEERING </a:t>
            </a:r>
            <a:r>
              <a:rPr lang="en-US" sz="1800" b="1" dirty="0" smtClean="0">
                <a:latin typeface="Aptos Display"/>
              </a:rPr>
              <a:t>TACTICS</a:t>
            </a:r>
            <a:br>
              <a:rPr lang="en-US" sz="1800" b="1" dirty="0" smtClean="0">
                <a:latin typeface="Aptos Display"/>
              </a:rPr>
            </a:br>
            <a:r>
              <a:rPr lang="en-US" sz="1800" b="1" dirty="0" smtClean="0">
                <a:latin typeface="Aptos Display"/>
              </a:rPr>
              <a:t/>
            </a:r>
            <a:br>
              <a:rPr lang="en-US" sz="1800" b="1" dirty="0" smtClean="0">
                <a:latin typeface="Aptos Display"/>
              </a:rPr>
            </a:br>
            <a:r>
              <a:rPr lang="en-US" sz="1600" dirty="0" smtClean="0">
                <a:latin typeface="Aptos Display"/>
              </a:rPr>
              <a:t>Social </a:t>
            </a:r>
            <a:r>
              <a:rPr lang="en-US" sz="1600" dirty="0">
                <a:latin typeface="Aptos Display"/>
              </a:rPr>
              <a:t>engineering is the use of psychological manipulation to trick people into revealing information, giving access, or taking an unsafe action</a:t>
            </a:r>
            <a:r>
              <a:rPr lang="en-US" sz="1800" dirty="0">
                <a:latin typeface="Aptos Display"/>
              </a:rPr>
              <a:t>.</a:t>
            </a:r>
          </a:p>
        </p:txBody>
      </p:sp>
      <p:sp>
        <p:nvSpPr>
          <p:cNvPr id="4" name="Rectangle 3"/>
          <p:cNvSpPr/>
          <p:nvPr/>
        </p:nvSpPr>
        <p:spPr>
          <a:xfrm>
            <a:off x="606951" y="2292313"/>
            <a:ext cx="5221356" cy="3631763"/>
          </a:xfrm>
          <a:prstGeom prst="rect">
            <a:avLst/>
          </a:prstGeom>
        </p:spPr>
        <p:txBody>
          <a:bodyPr wrap="square">
            <a:spAutoFit/>
          </a:bodyPr>
          <a:lstStyle/>
          <a:p>
            <a:r>
              <a:rPr lang="en-US" sz="1600" b="1" dirty="0" smtClean="0">
                <a:solidFill>
                  <a:schemeClr val="bg1">
                    <a:lumMod val="95000"/>
                  </a:schemeClr>
                </a:solidFill>
              </a:rPr>
              <a:t>🎭 </a:t>
            </a:r>
            <a:r>
              <a:rPr lang="en-US" sz="1600" b="1" dirty="0" smtClean="0">
                <a:solidFill>
                  <a:schemeClr val="bg1">
                    <a:lumMod val="95000"/>
                  </a:schemeClr>
                </a:solidFill>
                <a:latin typeface="Aptos Display"/>
              </a:rPr>
              <a:t>IMPERSONATION</a:t>
            </a:r>
          </a:p>
          <a:p>
            <a:endParaRPr lang="en-US" dirty="0" smtClean="0">
              <a:solidFill>
                <a:schemeClr val="bg1">
                  <a:lumMod val="95000"/>
                </a:schemeClr>
              </a:solidFill>
            </a:endParaRPr>
          </a:p>
          <a:p>
            <a:r>
              <a:rPr lang="en-US" sz="1500" dirty="0" smtClean="0">
                <a:solidFill>
                  <a:schemeClr val="bg1">
                    <a:lumMod val="95000"/>
                  </a:schemeClr>
                </a:solidFill>
                <a:latin typeface="Aptos Display"/>
              </a:rPr>
              <a:t>Attackers </a:t>
            </a:r>
            <a:r>
              <a:rPr lang="en-US" sz="1500" dirty="0">
                <a:solidFill>
                  <a:schemeClr val="bg1">
                    <a:lumMod val="95000"/>
                  </a:schemeClr>
                </a:solidFill>
                <a:latin typeface="Aptos Display"/>
              </a:rPr>
              <a:t>pretend to be trusted people or organizations, such as a bank, employer, or IT support</a:t>
            </a:r>
            <a:r>
              <a:rPr lang="en-US" sz="1500" dirty="0" smtClean="0">
                <a:solidFill>
                  <a:schemeClr val="bg1">
                    <a:lumMod val="95000"/>
                  </a:schemeClr>
                </a:solidFill>
                <a:latin typeface="Aptos Display"/>
              </a:rPr>
              <a:t>.</a:t>
            </a:r>
          </a:p>
          <a:p>
            <a:endParaRPr lang="en-US" sz="1500" dirty="0" smtClean="0">
              <a:solidFill>
                <a:schemeClr val="bg1">
                  <a:lumMod val="95000"/>
                </a:schemeClr>
              </a:solidFill>
              <a:latin typeface="Aptos Display"/>
            </a:endParaRPr>
          </a:p>
          <a:p>
            <a:r>
              <a:rPr lang="en-US" dirty="0" smtClean="0">
                <a:solidFill>
                  <a:schemeClr val="bg1">
                    <a:lumMod val="95000"/>
                  </a:schemeClr>
                </a:solidFill>
              </a:rPr>
              <a:t> </a:t>
            </a:r>
            <a:r>
              <a:rPr lang="en-US" b="1" dirty="0" smtClean="0">
                <a:solidFill>
                  <a:schemeClr val="bg1">
                    <a:lumMod val="95000"/>
                  </a:schemeClr>
                </a:solidFill>
                <a:latin typeface="Aptos Display"/>
              </a:rPr>
              <a:t>URGENCY</a:t>
            </a:r>
          </a:p>
          <a:p>
            <a:endParaRPr lang="en-US" b="1" dirty="0" smtClean="0">
              <a:solidFill>
                <a:schemeClr val="bg1">
                  <a:lumMod val="95000"/>
                </a:schemeClr>
              </a:solidFill>
              <a:latin typeface="Aptos Display"/>
            </a:endParaRPr>
          </a:p>
          <a:p>
            <a:r>
              <a:rPr lang="en-US" sz="1500" dirty="0" smtClean="0">
                <a:solidFill>
                  <a:schemeClr val="bg1">
                    <a:lumMod val="95000"/>
                  </a:schemeClr>
                </a:solidFill>
                <a:latin typeface="Aptos Display"/>
              </a:rPr>
              <a:t>They </a:t>
            </a:r>
            <a:r>
              <a:rPr lang="en-US" sz="1500" dirty="0">
                <a:solidFill>
                  <a:schemeClr val="bg1">
                    <a:lumMod val="95000"/>
                  </a:schemeClr>
                </a:solidFill>
                <a:latin typeface="Aptos Display"/>
              </a:rPr>
              <a:t>create pressure by claiming that immediate action is required</a:t>
            </a:r>
            <a:r>
              <a:rPr lang="en-US" dirty="0" smtClean="0">
                <a:solidFill>
                  <a:schemeClr val="bg1">
                    <a:lumMod val="95000"/>
                  </a:schemeClr>
                </a:solidFill>
                <a:latin typeface="Aptos Display"/>
              </a:rPr>
              <a:t>.</a:t>
            </a:r>
          </a:p>
          <a:p>
            <a:endParaRPr lang="en-US" dirty="0" smtClean="0">
              <a:solidFill>
                <a:schemeClr val="bg1">
                  <a:lumMod val="95000"/>
                </a:schemeClr>
              </a:solidFill>
            </a:endParaRPr>
          </a:p>
          <a:p>
            <a:r>
              <a:rPr lang="en-US" b="1" dirty="0" smtClean="0">
                <a:solidFill>
                  <a:schemeClr val="bg1">
                    <a:lumMod val="95000"/>
                  </a:schemeClr>
                </a:solidFill>
                <a:latin typeface="Aptos Display"/>
              </a:rPr>
              <a:t>🎁 </a:t>
            </a:r>
            <a:r>
              <a:rPr lang="en-US" sz="1600" b="1" dirty="0" smtClean="0">
                <a:solidFill>
                  <a:schemeClr val="bg1">
                    <a:lumMod val="95000"/>
                  </a:schemeClr>
                </a:solidFill>
                <a:latin typeface="Aptos Display"/>
              </a:rPr>
              <a:t>TOO-GOOD-TO-BE-TRUE OFFERS</a:t>
            </a:r>
          </a:p>
          <a:p>
            <a:endParaRPr lang="en-US" sz="1600" b="1" dirty="0" smtClean="0">
              <a:solidFill>
                <a:schemeClr val="bg1">
                  <a:lumMod val="95000"/>
                </a:schemeClr>
              </a:solidFill>
              <a:latin typeface="Aptos Display"/>
            </a:endParaRPr>
          </a:p>
          <a:p>
            <a:r>
              <a:rPr lang="en-US" sz="1500" dirty="0" smtClean="0">
                <a:solidFill>
                  <a:schemeClr val="bg1">
                    <a:lumMod val="95000"/>
                  </a:schemeClr>
                </a:solidFill>
                <a:latin typeface="Aptos Display"/>
              </a:rPr>
              <a:t>They </a:t>
            </a:r>
            <a:r>
              <a:rPr lang="en-US" sz="1500" dirty="0">
                <a:solidFill>
                  <a:schemeClr val="bg1">
                    <a:lumMod val="95000"/>
                  </a:schemeClr>
                </a:solidFill>
                <a:latin typeface="Aptos Display"/>
              </a:rPr>
              <a:t>may promise prizes, discounts, jobs, or other rewards to make victims respond.</a:t>
            </a:r>
          </a:p>
        </p:txBody>
      </p:sp>
      <p:sp>
        <p:nvSpPr>
          <p:cNvPr id="5" name="Rectangle 4"/>
          <p:cNvSpPr/>
          <p:nvPr/>
        </p:nvSpPr>
        <p:spPr>
          <a:xfrm>
            <a:off x="6893781" y="2568271"/>
            <a:ext cx="4707172" cy="2539157"/>
          </a:xfrm>
          <a:prstGeom prst="rect">
            <a:avLst/>
          </a:prstGeom>
        </p:spPr>
        <p:txBody>
          <a:bodyPr wrap="square">
            <a:spAutoFit/>
          </a:bodyPr>
          <a:lstStyle/>
          <a:p>
            <a:r>
              <a:rPr lang="en-US" sz="1600" b="1" dirty="0" smtClean="0">
                <a:solidFill>
                  <a:schemeClr val="bg1">
                    <a:lumMod val="95000"/>
                  </a:schemeClr>
                </a:solidFill>
                <a:latin typeface="Aptos Display"/>
              </a:rPr>
              <a:t>🔐 FEAR </a:t>
            </a:r>
            <a:r>
              <a:rPr lang="en-US" sz="1600" b="1" dirty="0">
                <a:solidFill>
                  <a:schemeClr val="bg1">
                    <a:lumMod val="95000"/>
                  </a:schemeClr>
                </a:solidFill>
                <a:latin typeface="Aptos Display"/>
              </a:rPr>
              <a:t>&amp; </a:t>
            </a:r>
            <a:r>
              <a:rPr lang="en-US" sz="1600" b="1" dirty="0" smtClean="0">
                <a:solidFill>
                  <a:schemeClr val="bg1">
                    <a:lumMod val="95000"/>
                  </a:schemeClr>
                </a:solidFill>
                <a:latin typeface="Aptos Display"/>
              </a:rPr>
              <a:t>THREATS</a:t>
            </a:r>
          </a:p>
          <a:p>
            <a:endParaRPr lang="en-US" dirty="0" smtClean="0">
              <a:solidFill>
                <a:schemeClr val="bg1">
                  <a:lumMod val="95000"/>
                </a:schemeClr>
              </a:solidFill>
              <a:latin typeface="Aptos Display"/>
            </a:endParaRPr>
          </a:p>
          <a:p>
            <a:r>
              <a:rPr lang="en-US" sz="1500" dirty="0" smtClean="0">
                <a:solidFill>
                  <a:schemeClr val="bg1">
                    <a:lumMod val="95000"/>
                  </a:schemeClr>
                </a:solidFill>
                <a:latin typeface="Aptos Display"/>
              </a:rPr>
              <a:t>Attackers </a:t>
            </a:r>
            <a:r>
              <a:rPr lang="en-US" sz="1500" dirty="0">
                <a:solidFill>
                  <a:schemeClr val="bg1">
                    <a:lumMod val="95000"/>
                  </a:schemeClr>
                </a:solidFill>
                <a:latin typeface="Aptos Display"/>
              </a:rPr>
              <a:t>may threaten account suspension, financial </a:t>
            </a:r>
            <a:r>
              <a:rPr lang="en-US" sz="1500" dirty="0" smtClean="0">
                <a:solidFill>
                  <a:schemeClr val="bg1">
                    <a:lumMod val="95000"/>
                  </a:schemeClr>
                </a:solidFill>
                <a:latin typeface="Aptos Display"/>
              </a:rPr>
              <a:t>loss, </a:t>
            </a:r>
            <a:r>
              <a:rPr lang="en-US" sz="1500" dirty="0">
                <a:solidFill>
                  <a:schemeClr val="bg1">
                    <a:lumMod val="95000"/>
                  </a:schemeClr>
                </a:solidFill>
                <a:latin typeface="Aptos Display"/>
              </a:rPr>
              <a:t>or other consequences</a:t>
            </a:r>
            <a:r>
              <a:rPr lang="en-US" sz="1500" dirty="0" smtClean="0">
                <a:solidFill>
                  <a:schemeClr val="bg1">
                    <a:lumMod val="95000"/>
                  </a:schemeClr>
                </a:solidFill>
                <a:latin typeface="Aptos Display"/>
              </a:rPr>
              <a:t>.</a:t>
            </a:r>
          </a:p>
          <a:p>
            <a:endParaRPr lang="en-US" sz="1500" dirty="0" smtClean="0">
              <a:solidFill>
                <a:schemeClr val="bg1">
                  <a:lumMod val="95000"/>
                </a:schemeClr>
              </a:solidFill>
              <a:latin typeface="Aptos Display"/>
            </a:endParaRPr>
          </a:p>
          <a:p>
            <a:r>
              <a:rPr lang="en-US" sz="1600" b="1" dirty="0" smtClean="0">
                <a:solidFill>
                  <a:schemeClr val="bg1">
                    <a:lumMod val="95000"/>
                  </a:schemeClr>
                </a:solidFill>
                <a:latin typeface="Aptos Display"/>
              </a:rPr>
              <a:t>TRUST </a:t>
            </a:r>
            <a:r>
              <a:rPr lang="en-US" sz="1600" b="1" dirty="0">
                <a:solidFill>
                  <a:schemeClr val="bg1">
                    <a:lumMod val="95000"/>
                  </a:schemeClr>
                </a:solidFill>
                <a:latin typeface="Aptos Display"/>
              </a:rPr>
              <a:t>&amp; </a:t>
            </a:r>
            <a:r>
              <a:rPr lang="en-US" sz="1600" b="1" dirty="0" smtClean="0">
                <a:solidFill>
                  <a:schemeClr val="bg1">
                    <a:lumMod val="95000"/>
                  </a:schemeClr>
                </a:solidFill>
                <a:latin typeface="Aptos Display"/>
              </a:rPr>
              <a:t>AUTHORITY</a:t>
            </a:r>
          </a:p>
          <a:p>
            <a:endParaRPr lang="en-US" sz="1600" b="1" dirty="0" smtClean="0">
              <a:solidFill>
                <a:schemeClr val="bg1">
                  <a:lumMod val="95000"/>
                </a:schemeClr>
              </a:solidFill>
              <a:latin typeface="Aptos Display"/>
            </a:endParaRPr>
          </a:p>
          <a:p>
            <a:r>
              <a:rPr lang="en-US" sz="1500" dirty="0" smtClean="0">
                <a:solidFill>
                  <a:schemeClr val="bg1">
                    <a:lumMod val="95000"/>
                  </a:schemeClr>
                </a:solidFill>
                <a:latin typeface="Aptos Display"/>
              </a:rPr>
              <a:t>They </a:t>
            </a:r>
            <a:r>
              <a:rPr lang="en-US" sz="1500" dirty="0">
                <a:solidFill>
                  <a:schemeClr val="bg1">
                    <a:lumMod val="95000"/>
                  </a:schemeClr>
                </a:solidFill>
                <a:latin typeface="Aptos Display"/>
              </a:rPr>
              <a:t>use the identity of someone the victim trusts or considers important to make the request seem legitimate</a:t>
            </a:r>
            <a:r>
              <a:rPr lang="en-US" dirty="0">
                <a:solidFill>
                  <a:schemeClr val="bg1">
                    <a:lumMod val="95000"/>
                  </a:schemeClr>
                </a:solidFill>
                <a:latin typeface="Aptos Display"/>
              </a:rPr>
              <a:t>.</a:t>
            </a:r>
          </a:p>
        </p:txBody>
      </p:sp>
      <p:sp>
        <p:nvSpPr>
          <p:cNvPr id="6" name="Rectangle 5"/>
          <p:cNvSpPr/>
          <p:nvPr/>
        </p:nvSpPr>
        <p:spPr>
          <a:xfrm>
            <a:off x="5581816" y="5744886"/>
            <a:ext cx="6138407" cy="615553"/>
          </a:xfrm>
          <a:prstGeom prst="rect">
            <a:avLst/>
          </a:prstGeom>
        </p:spPr>
        <p:txBody>
          <a:bodyPr wrap="square">
            <a:spAutoFit/>
          </a:bodyPr>
          <a:lstStyle/>
          <a:p>
            <a:r>
              <a:rPr lang="en-US" sz="1600" b="1" dirty="0">
                <a:solidFill>
                  <a:schemeClr val="bg1">
                    <a:lumMod val="95000"/>
                  </a:schemeClr>
                </a:solidFill>
              </a:rPr>
              <a:t>KEY IDEA: SOCIAL ENGINEERING TARGETS PEOPLE — NOT JUST TECHNOLOGY</a:t>
            </a:r>
            <a:r>
              <a:rPr lang="en-US" dirty="0"/>
              <a:t>.</a:t>
            </a:r>
          </a:p>
        </p:txBody>
      </p:sp>
    </p:spTree>
    <p:extLst>
      <p:ext uri="{BB962C8B-B14F-4D97-AF65-F5344CB8AC3E}">
        <p14:creationId xmlns:p14="http://schemas.microsoft.com/office/powerpoint/2010/main" val="24237894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3128" y="1896533"/>
            <a:ext cx="4527672" cy="3332868"/>
          </a:xfrm>
        </p:spPr>
        <p:txBody>
          <a:bodyPr/>
          <a:lstStyle/>
          <a:p>
            <a:r>
              <a:rPr lang="en-US" sz="1500" b="1" dirty="0" smtClean="0">
                <a:latin typeface="Aptos Display"/>
              </a:rPr>
              <a:t>📧 EMAIL PHISHING</a:t>
            </a:r>
            <a:br>
              <a:rPr lang="en-US" sz="1500" b="1" dirty="0" smtClean="0">
                <a:latin typeface="Aptos Display"/>
              </a:rPr>
            </a:br>
            <a:r>
              <a:rPr lang="en-US" sz="1400" dirty="0" smtClean="0">
                <a:latin typeface="Aptos Display"/>
              </a:rPr>
              <a:t>Fake emails designed to trick people into clicking links, opening attachments, or sharing information.</a:t>
            </a:r>
            <a:br>
              <a:rPr lang="en-US" sz="1400" dirty="0" smtClean="0">
                <a:latin typeface="Aptos Display"/>
              </a:rPr>
            </a:br>
            <a:r>
              <a:rPr lang="en-US" sz="1800" dirty="0" smtClean="0">
                <a:latin typeface="Aptos Display"/>
              </a:rPr>
              <a:t/>
            </a:r>
            <a:br>
              <a:rPr lang="en-US" sz="1800" dirty="0" smtClean="0">
                <a:latin typeface="Aptos Display"/>
              </a:rPr>
            </a:br>
            <a:r>
              <a:rPr lang="en-US" sz="1500" b="1" dirty="0" smtClean="0">
                <a:latin typeface="Aptos Display"/>
              </a:rPr>
              <a:t>📱 SMISHING</a:t>
            </a:r>
            <a:br>
              <a:rPr lang="en-US" sz="1500" b="1" dirty="0" smtClean="0">
                <a:latin typeface="Aptos Display"/>
              </a:rPr>
            </a:br>
            <a:r>
              <a:rPr lang="en-US" sz="1400" dirty="0" smtClean="0">
                <a:latin typeface="Aptos Display"/>
              </a:rPr>
              <a:t>Phishing attacks carried out through SMS or text messages.</a:t>
            </a:r>
            <a:br>
              <a:rPr lang="en-US" sz="1400" dirty="0" smtClean="0">
                <a:latin typeface="Aptos Display"/>
              </a:rPr>
            </a:br>
            <a:r>
              <a:rPr lang="en-US" sz="1800" dirty="0" smtClean="0">
                <a:latin typeface="Aptos Display"/>
              </a:rPr>
              <a:t/>
            </a:r>
            <a:br>
              <a:rPr lang="en-US" sz="1800" dirty="0" smtClean="0">
                <a:latin typeface="Aptos Display"/>
              </a:rPr>
            </a:br>
            <a:r>
              <a:rPr lang="en-US" sz="1500" b="1" dirty="0" smtClean="0">
                <a:latin typeface="Aptos Display"/>
              </a:rPr>
              <a:t>☎️ VISHING</a:t>
            </a:r>
            <a:br>
              <a:rPr lang="en-US" sz="1500" b="1" dirty="0" smtClean="0">
                <a:latin typeface="Aptos Display"/>
              </a:rPr>
            </a:br>
            <a:r>
              <a:rPr lang="en-US" sz="1400" dirty="0" smtClean="0">
                <a:latin typeface="Aptos Display"/>
              </a:rPr>
              <a:t>Fraudulent phone calls used to obtain sensitive information or persuade victims to take unsafe actions.</a:t>
            </a:r>
            <a:endParaRPr lang="en-US" sz="1400" dirty="0">
              <a:latin typeface="Aptos Display"/>
            </a:endParaRPr>
          </a:p>
        </p:txBody>
      </p:sp>
      <p:sp>
        <p:nvSpPr>
          <p:cNvPr id="4" name="Rectangle 3"/>
          <p:cNvSpPr/>
          <p:nvPr/>
        </p:nvSpPr>
        <p:spPr>
          <a:xfrm>
            <a:off x="3832528" y="795332"/>
            <a:ext cx="6050943" cy="369332"/>
          </a:xfrm>
          <a:prstGeom prst="rect">
            <a:avLst/>
          </a:prstGeom>
        </p:spPr>
        <p:txBody>
          <a:bodyPr wrap="square">
            <a:spAutoFit/>
          </a:bodyPr>
          <a:lstStyle/>
          <a:p>
            <a:r>
              <a:rPr lang="en-US" b="1" dirty="0">
                <a:solidFill>
                  <a:schemeClr val="bg1">
                    <a:lumMod val="95000"/>
                  </a:schemeClr>
                </a:solidFill>
                <a:latin typeface="Aptos Display"/>
              </a:rPr>
              <a:t> COMMON </a:t>
            </a:r>
            <a:r>
              <a:rPr lang="en-US" b="1" dirty="0" smtClean="0">
                <a:solidFill>
                  <a:schemeClr val="bg1">
                    <a:lumMod val="95000"/>
                  </a:schemeClr>
                </a:solidFill>
                <a:latin typeface="Aptos Display"/>
              </a:rPr>
              <a:t>TYPES OF </a:t>
            </a:r>
            <a:r>
              <a:rPr lang="en-US" b="1" dirty="0">
                <a:solidFill>
                  <a:schemeClr val="bg1">
                    <a:lumMod val="95000"/>
                  </a:schemeClr>
                </a:solidFill>
                <a:latin typeface="Aptos Display"/>
              </a:rPr>
              <a:t>PHISHING</a:t>
            </a:r>
          </a:p>
        </p:txBody>
      </p:sp>
      <p:sp>
        <p:nvSpPr>
          <p:cNvPr id="6" name="Rectangle 5"/>
          <p:cNvSpPr/>
          <p:nvPr/>
        </p:nvSpPr>
        <p:spPr>
          <a:xfrm>
            <a:off x="5916654" y="2489201"/>
            <a:ext cx="5623412" cy="2877711"/>
          </a:xfrm>
          <a:prstGeom prst="rect">
            <a:avLst/>
          </a:prstGeom>
        </p:spPr>
        <p:txBody>
          <a:bodyPr wrap="square">
            <a:spAutoFit/>
          </a:bodyPr>
          <a:lstStyle/>
          <a:p>
            <a:r>
              <a:rPr lang="en-US" sz="1500" b="1" dirty="0" smtClean="0">
                <a:solidFill>
                  <a:schemeClr val="bg1">
                    <a:lumMod val="95000"/>
                  </a:schemeClr>
                </a:solidFill>
              </a:rPr>
              <a:t>🎯</a:t>
            </a:r>
            <a:r>
              <a:rPr lang="en-US" sz="1500" b="1" dirty="0" smtClean="0">
                <a:solidFill>
                  <a:schemeClr val="bg1">
                    <a:lumMod val="95000"/>
                  </a:schemeClr>
                </a:solidFill>
                <a:latin typeface="Aptos Display"/>
              </a:rPr>
              <a:t>SPEAR PHISHING</a:t>
            </a:r>
          </a:p>
          <a:p>
            <a:r>
              <a:rPr lang="en-US" sz="1400" dirty="0" smtClean="0">
                <a:solidFill>
                  <a:schemeClr val="bg1">
                    <a:lumMod val="95000"/>
                  </a:schemeClr>
                </a:solidFill>
                <a:latin typeface="Aptos Display"/>
              </a:rPr>
              <a:t>A </a:t>
            </a:r>
            <a:r>
              <a:rPr lang="en-US" sz="1400" dirty="0">
                <a:solidFill>
                  <a:schemeClr val="bg1">
                    <a:lumMod val="95000"/>
                  </a:schemeClr>
                </a:solidFill>
                <a:latin typeface="Aptos Display"/>
              </a:rPr>
              <a:t>targeted phishing attack designed for a specific person or organization</a:t>
            </a:r>
            <a:r>
              <a:rPr lang="en-US" dirty="0" smtClean="0">
                <a:solidFill>
                  <a:schemeClr val="bg1">
                    <a:lumMod val="95000"/>
                  </a:schemeClr>
                </a:solidFill>
              </a:rPr>
              <a:t>.</a:t>
            </a:r>
          </a:p>
          <a:p>
            <a:endParaRPr lang="en-US" dirty="0" smtClean="0">
              <a:solidFill>
                <a:schemeClr val="bg1">
                  <a:lumMod val="95000"/>
                </a:schemeClr>
              </a:solidFill>
            </a:endParaRPr>
          </a:p>
          <a:p>
            <a:r>
              <a:rPr lang="en-US" sz="1500" b="1" dirty="0" smtClean="0">
                <a:solidFill>
                  <a:schemeClr val="bg1">
                    <a:lumMod val="95000"/>
                  </a:schemeClr>
                </a:solidFill>
                <a:latin typeface="Aptos Display"/>
              </a:rPr>
              <a:t>👤 SOCIAL </a:t>
            </a:r>
            <a:r>
              <a:rPr lang="en-US" sz="1500" b="1" dirty="0">
                <a:solidFill>
                  <a:schemeClr val="bg1">
                    <a:lumMod val="95000"/>
                  </a:schemeClr>
                </a:solidFill>
                <a:latin typeface="Aptos Display"/>
              </a:rPr>
              <a:t>MEDIA </a:t>
            </a:r>
            <a:r>
              <a:rPr lang="en-US" sz="1500" b="1" dirty="0" smtClean="0">
                <a:solidFill>
                  <a:schemeClr val="bg1">
                    <a:lumMod val="95000"/>
                  </a:schemeClr>
                </a:solidFill>
                <a:latin typeface="Aptos Display"/>
              </a:rPr>
              <a:t>PHISHING</a:t>
            </a:r>
          </a:p>
          <a:p>
            <a:r>
              <a:rPr lang="en-US" sz="1400" dirty="0">
                <a:solidFill>
                  <a:schemeClr val="bg1">
                    <a:lumMod val="95000"/>
                  </a:schemeClr>
                </a:solidFill>
                <a:latin typeface="Aptos Display"/>
              </a:rPr>
              <a:t>Fake </a:t>
            </a:r>
            <a:r>
              <a:rPr lang="en-US" sz="1400" dirty="0" smtClean="0">
                <a:solidFill>
                  <a:schemeClr val="bg1">
                    <a:lumMod val="95000"/>
                  </a:schemeClr>
                </a:solidFill>
                <a:latin typeface="Aptos Display"/>
              </a:rPr>
              <a:t>messages </a:t>
            </a:r>
            <a:r>
              <a:rPr lang="en-US" sz="1400" dirty="0">
                <a:solidFill>
                  <a:schemeClr val="bg1">
                    <a:lumMod val="95000"/>
                  </a:schemeClr>
                </a:solidFill>
                <a:latin typeface="Aptos Display"/>
              </a:rPr>
              <a:t>or accounts used on social media platforms to trick users</a:t>
            </a:r>
            <a:r>
              <a:rPr lang="en-US" sz="1400" dirty="0" smtClean="0">
                <a:solidFill>
                  <a:schemeClr val="bg1">
                    <a:lumMod val="95000"/>
                  </a:schemeClr>
                </a:solidFill>
                <a:latin typeface="Aptos Display"/>
              </a:rPr>
              <a:t>.</a:t>
            </a:r>
          </a:p>
          <a:p>
            <a:endParaRPr lang="en-US" sz="1400" dirty="0" smtClean="0">
              <a:solidFill>
                <a:schemeClr val="bg1">
                  <a:lumMod val="95000"/>
                </a:schemeClr>
              </a:solidFill>
              <a:latin typeface="Aptos Display"/>
            </a:endParaRPr>
          </a:p>
          <a:p>
            <a:endParaRPr lang="en-US" sz="1400" dirty="0" smtClean="0">
              <a:solidFill>
                <a:schemeClr val="bg1">
                  <a:lumMod val="95000"/>
                </a:schemeClr>
              </a:solidFill>
              <a:latin typeface="Aptos Display"/>
            </a:endParaRPr>
          </a:p>
          <a:p>
            <a:r>
              <a:rPr lang="en-US" sz="1500" b="1" dirty="0" smtClean="0">
                <a:solidFill>
                  <a:schemeClr val="bg1">
                    <a:lumMod val="95000"/>
                  </a:schemeClr>
                </a:solidFill>
                <a:latin typeface="Aptos Display"/>
              </a:rPr>
              <a:t>🌐 PHARMING</a:t>
            </a:r>
          </a:p>
          <a:p>
            <a:r>
              <a:rPr lang="en-US" sz="1500" dirty="0" smtClean="0">
                <a:solidFill>
                  <a:schemeClr val="bg1">
                    <a:lumMod val="95000"/>
                  </a:schemeClr>
                </a:solidFill>
                <a:latin typeface="Aptos Display"/>
              </a:rPr>
              <a:t>A </a:t>
            </a:r>
            <a:r>
              <a:rPr lang="en-US" sz="1500" dirty="0">
                <a:solidFill>
                  <a:schemeClr val="bg1">
                    <a:lumMod val="95000"/>
                  </a:schemeClr>
                </a:solidFill>
                <a:latin typeface="Aptos Display"/>
              </a:rPr>
              <a:t>technique that redirects users to a fraudulent website even when they try to visit a legitimate one.</a:t>
            </a:r>
          </a:p>
        </p:txBody>
      </p:sp>
      <p:sp>
        <p:nvSpPr>
          <p:cNvPr id="8" name="Rectangle 7"/>
          <p:cNvSpPr/>
          <p:nvPr/>
        </p:nvSpPr>
        <p:spPr>
          <a:xfrm>
            <a:off x="2302933" y="5544235"/>
            <a:ext cx="6096000" cy="600164"/>
          </a:xfrm>
          <a:prstGeom prst="rect">
            <a:avLst/>
          </a:prstGeom>
        </p:spPr>
        <p:txBody>
          <a:bodyPr>
            <a:spAutoFit/>
          </a:bodyPr>
          <a:lstStyle/>
          <a:p>
            <a:r>
              <a:rPr lang="en-US" sz="1500" b="1" dirty="0">
                <a:solidFill>
                  <a:schemeClr val="bg1">
                    <a:lumMod val="95000"/>
                  </a:schemeClr>
                </a:solidFill>
                <a:latin typeface="Aptos Display"/>
              </a:rPr>
              <a:t>REMEMBER: PHISHING CAN HAPPEN THROUGH DIFFERENT CHANNELS</a:t>
            </a:r>
            <a:r>
              <a:rPr lang="en-US" dirty="0" smtClean="0"/>
              <a:t>.</a:t>
            </a:r>
            <a:endParaRPr lang="en-US" dirty="0"/>
          </a:p>
        </p:txBody>
      </p:sp>
    </p:spTree>
    <p:extLst>
      <p:ext uri="{BB962C8B-B14F-4D97-AF65-F5344CB8AC3E}">
        <p14:creationId xmlns:p14="http://schemas.microsoft.com/office/powerpoint/2010/main" val="32162041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0065" y="1752600"/>
            <a:ext cx="5110378" cy="3056466"/>
          </a:xfrm>
        </p:spPr>
        <p:txBody>
          <a:bodyPr/>
          <a:lstStyle/>
          <a:p>
            <a:r>
              <a:rPr lang="en-US" sz="1500" b="1" dirty="0" smtClean="0">
                <a:solidFill>
                  <a:schemeClr val="bg1">
                    <a:lumMod val="95000"/>
                  </a:schemeClr>
                </a:solidFill>
                <a:latin typeface="Aptos Display"/>
              </a:rPr>
              <a:t>THINK </a:t>
            </a:r>
            <a:r>
              <a:rPr lang="en-US" sz="1500" b="1" dirty="0">
                <a:solidFill>
                  <a:schemeClr val="bg1">
                    <a:lumMod val="95000"/>
                  </a:schemeClr>
                </a:solidFill>
                <a:latin typeface="Aptos Display"/>
              </a:rPr>
              <a:t>BEFORE YOU </a:t>
            </a:r>
            <a:r>
              <a:rPr lang="en-US" sz="1500" b="1" dirty="0" smtClean="0">
                <a:solidFill>
                  <a:schemeClr val="bg1">
                    <a:lumMod val="95000"/>
                  </a:schemeClr>
                </a:solidFill>
                <a:latin typeface="Aptos Display"/>
              </a:rPr>
              <a:t>CLICK</a:t>
            </a:r>
            <a:r>
              <a:rPr lang="en-US" sz="1600" dirty="0" smtClean="0"/>
              <a:t/>
            </a:r>
            <a:br>
              <a:rPr lang="en-US" sz="1600" dirty="0" smtClean="0"/>
            </a:br>
            <a:r>
              <a:rPr lang="en-US" sz="1400" dirty="0" smtClean="0">
                <a:latin typeface="Aptos Display"/>
              </a:rPr>
              <a:t>Don't </a:t>
            </a:r>
            <a:r>
              <a:rPr lang="en-US" sz="1400" dirty="0">
                <a:latin typeface="Aptos Display"/>
              </a:rPr>
              <a:t>click links or open attachments just because a message looks urgent or familiar</a:t>
            </a:r>
            <a:r>
              <a:rPr lang="en-US" sz="1400" dirty="0" smtClean="0">
                <a:latin typeface="Aptos Display"/>
              </a:rPr>
              <a:t>.</a:t>
            </a:r>
            <a:br>
              <a:rPr lang="en-US" sz="1400" dirty="0" smtClean="0">
                <a:latin typeface="Aptos Display"/>
              </a:rPr>
            </a:br>
            <a:r>
              <a:rPr lang="en-US" sz="1400" dirty="0" smtClean="0">
                <a:latin typeface="Aptos Display"/>
              </a:rPr>
              <a:t/>
            </a:r>
            <a:br>
              <a:rPr lang="en-US" sz="1400" dirty="0" smtClean="0">
                <a:latin typeface="Aptos Display"/>
              </a:rPr>
            </a:br>
            <a:r>
              <a:rPr lang="en-US" sz="1400" dirty="0" smtClean="0">
                <a:latin typeface="Aptos Display"/>
              </a:rPr>
              <a:t/>
            </a:r>
            <a:br>
              <a:rPr lang="en-US" sz="1400" dirty="0" smtClean="0">
                <a:latin typeface="Aptos Display"/>
              </a:rPr>
            </a:br>
            <a:r>
              <a:rPr lang="en-US" sz="1500" b="1" dirty="0" smtClean="0">
                <a:solidFill>
                  <a:schemeClr val="bg1">
                    <a:lumMod val="95000"/>
                  </a:schemeClr>
                </a:solidFill>
                <a:latin typeface="Aptos Display"/>
              </a:rPr>
              <a:t>🌐VERIFY </a:t>
            </a:r>
            <a:r>
              <a:rPr lang="en-US" sz="1500" b="1" dirty="0">
                <a:solidFill>
                  <a:schemeClr val="bg1">
                    <a:lumMod val="95000"/>
                  </a:schemeClr>
                </a:solidFill>
                <a:latin typeface="Aptos Display"/>
              </a:rPr>
              <a:t>LINKS AND </a:t>
            </a:r>
            <a:r>
              <a:rPr lang="en-US" sz="1500" b="1" dirty="0" smtClean="0">
                <a:solidFill>
                  <a:schemeClr val="bg1">
                    <a:lumMod val="95000"/>
                  </a:schemeClr>
                </a:solidFill>
                <a:latin typeface="Aptos Display"/>
              </a:rPr>
              <a:t>WEBSITES</a:t>
            </a:r>
            <a:br>
              <a:rPr lang="en-US" sz="1500" b="1" dirty="0" smtClean="0">
                <a:solidFill>
                  <a:schemeClr val="bg1">
                    <a:lumMod val="95000"/>
                  </a:schemeClr>
                </a:solidFill>
                <a:latin typeface="Aptos Display"/>
              </a:rPr>
            </a:br>
            <a:r>
              <a:rPr lang="en-US" sz="1400" dirty="0" smtClean="0">
                <a:latin typeface="Aptos Display"/>
              </a:rPr>
              <a:t>Check </a:t>
            </a:r>
            <a:r>
              <a:rPr lang="en-US" sz="1400" dirty="0">
                <a:latin typeface="Aptos Display"/>
              </a:rPr>
              <a:t>the website address carefully and use official websites when accessing important accounts</a:t>
            </a:r>
            <a:r>
              <a:rPr lang="en-US" sz="1400" dirty="0" smtClean="0">
                <a:latin typeface="Aptos Display"/>
              </a:rPr>
              <a:t>.</a:t>
            </a:r>
            <a:br>
              <a:rPr lang="en-US" sz="1400" dirty="0" smtClean="0">
                <a:latin typeface="Aptos Display"/>
              </a:rPr>
            </a:br>
            <a:r>
              <a:rPr lang="en-US" sz="1600" dirty="0" smtClean="0"/>
              <a:t/>
            </a:r>
            <a:br>
              <a:rPr lang="en-US" sz="1600" dirty="0" smtClean="0"/>
            </a:br>
            <a:r>
              <a:rPr lang="en-US" sz="1500" b="1" dirty="0" smtClean="0">
                <a:latin typeface="Aptos Display"/>
              </a:rPr>
              <a:t>🔐 USE </a:t>
            </a:r>
            <a:r>
              <a:rPr lang="en-US" sz="1500" b="1" dirty="0">
                <a:latin typeface="Aptos Display"/>
              </a:rPr>
              <a:t>STRONG, UNIQUE </a:t>
            </a:r>
            <a:r>
              <a:rPr lang="en-US" sz="1500" b="1" dirty="0" smtClean="0">
                <a:latin typeface="Aptos Display"/>
              </a:rPr>
              <a:t>PASSWORDS</a:t>
            </a:r>
            <a:r>
              <a:rPr lang="en-US" sz="1600" dirty="0" smtClean="0"/>
              <a:t/>
            </a:r>
            <a:br>
              <a:rPr lang="en-US" sz="1600" dirty="0" smtClean="0"/>
            </a:br>
            <a:r>
              <a:rPr lang="en-US" sz="1400" dirty="0" smtClean="0">
                <a:latin typeface="Aptos Display"/>
              </a:rPr>
              <a:t>Avoid </a:t>
            </a:r>
            <a:r>
              <a:rPr lang="en-US" sz="1400" dirty="0">
                <a:latin typeface="Aptos Display"/>
              </a:rPr>
              <a:t>reusing the same password across different accounts</a:t>
            </a:r>
            <a:r>
              <a:rPr lang="en-US" sz="1600" dirty="0"/>
              <a:t>.</a:t>
            </a:r>
          </a:p>
        </p:txBody>
      </p:sp>
      <p:sp>
        <p:nvSpPr>
          <p:cNvPr id="4" name="Rectangle 3"/>
          <p:cNvSpPr/>
          <p:nvPr/>
        </p:nvSpPr>
        <p:spPr>
          <a:xfrm>
            <a:off x="2735093" y="1078618"/>
            <a:ext cx="6053901" cy="369332"/>
          </a:xfrm>
          <a:prstGeom prst="rect">
            <a:avLst/>
          </a:prstGeom>
        </p:spPr>
        <p:txBody>
          <a:bodyPr wrap="none">
            <a:spAutoFit/>
          </a:bodyPr>
          <a:lstStyle/>
          <a:p>
            <a:r>
              <a:rPr lang="en-US" b="1" dirty="0">
                <a:solidFill>
                  <a:schemeClr val="bg1">
                    <a:lumMod val="95000"/>
                  </a:schemeClr>
                </a:solidFill>
                <a:latin typeface="Aptos Display"/>
              </a:rPr>
              <a:t>BEST PRACTICES &amp; TIPS TO AVOID FALLING VICTIM</a:t>
            </a:r>
          </a:p>
        </p:txBody>
      </p:sp>
      <p:sp>
        <p:nvSpPr>
          <p:cNvPr id="5" name="Rectangle 4"/>
          <p:cNvSpPr/>
          <p:nvPr/>
        </p:nvSpPr>
        <p:spPr>
          <a:xfrm>
            <a:off x="5971472" y="2209801"/>
            <a:ext cx="5635044" cy="2779248"/>
          </a:xfrm>
          <a:prstGeom prst="rect">
            <a:avLst/>
          </a:prstGeom>
        </p:spPr>
        <p:txBody>
          <a:bodyPr wrap="square">
            <a:spAutoFit/>
          </a:bodyPr>
          <a:lstStyle/>
          <a:p>
            <a:r>
              <a:rPr lang="en-US" sz="1500" b="1" dirty="0" smtClean="0">
                <a:solidFill>
                  <a:schemeClr val="bg1">
                    <a:lumMod val="95000"/>
                  </a:schemeClr>
                </a:solidFill>
                <a:latin typeface="Aptos Display"/>
              </a:rPr>
              <a:t>ENABLE </a:t>
            </a:r>
            <a:r>
              <a:rPr lang="en-US" sz="1500" b="1" dirty="0">
                <a:solidFill>
                  <a:schemeClr val="bg1">
                    <a:lumMod val="95000"/>
                  </a:schemeClr>
                </a:solidFill>
                <a:latin typeface="Aptos Display"/>
              </a:rPr>
              <a:t>MULTI-FACTOR AUTHENTICATION (</a:t>
            </a:r>
            <a:r>
              <a:rPr lang="en-US" sz="1500" b="1" dirty="0" smtClean="0">
                <a:solidFill>
                  <a:schemeClr val="bg1">
                    <a:lumMod val="95000"/>
                  </a:schemeClr>
                </a:solidFill>
                <a:latin typeface="Aptos Display"/>
              </a:rPr>
              <a:t>MFA)</a:t>
            </a:r>
          </a:p>
          <a:p>
            <a:r>
              <a:rPr lang="en-US" sz="1400" dirty="0" smtClean="0">
                <a:solidFill>
                  <a:schemeClr val="bg1">
                    <a:lumMod val="95000"/>
                  </a:schemeClr>
                </a:solidFill>
                <a:latin typeface="Aptos Display"/>
              </a:rPr>
              <a:t>MFA </a:t>
            </a:r>
            <a:r>
              <a:rPr lang="en-US" sz="1400" dirty="0">
                <a:solidFill>
                  <a:schemeClr val="bg1">
                    <a:lumMod val="95000"/>
                  </a:schemeClr>
                </a:solidFill>
                <a:latin typeface="Aptos Display"/>
              </a:rPr>
              <a:t>adds an extra layer of protection if your password is compromised</a:t>
            </a:r>
            <a:r>
              <a:rPr lang="en-US" dirty="0" smtClean="0">
                <a:solidFill>
                  <a:schemeClr val="bg1">
                    <a:lumMod val="95000"/>
                  </a:schemeClr>
                </a:solidFill>
                <a:latin typeface="Aptos Display"/>
              </a:rPr>
              <a:t>.</a:t>
            </a:r>
          </a:p>
          <a:p>
            <a:endParaRPr lang="en-US" dirty="0" smtClean="0">
              <a:solidFill>
                <a:schemeClr val="bg1">
                  <a:lumMod val="95000"/>
                </a:schemeClr>
              </a:solidFill>
              <a:latin typeface="Aptos Display"/>
            </a:endParaRPr>
          </a:p>
          <a:p>
            <a:r>
              <a:rPr lang="en-US" sz="1500" b="1" dirty="0" smtClean="0">
                <a:solidFill>
                  <a:schemeClr val="bg1">
                    <a:lumMod val="95000"/>
                  </a:schemeClr>
                </a:solidFill>
                <a:latin typeface="Aptos Display"/>
              </a:rPr>
              <a:t>📩 VERIFY </a:t>
            </a:r>
            <a:r>
              <a:rPr lang="en-US" sz="1500" b="1" dirty="0">
                <a:solidFill>
                  <a:schemeClr val="bg1">
                    <a:lumMod val="95000"/>
                  </a:schemeClr>
                </a:solidFill>
                <a:latin typeface="Aptos Display"/>
              </a:rPr>
              <a:t>SUSPICIOUS </a:t>
            </a:r>
            <a:r>
              <a:rPr lang="en-US" sz="1500" b="1" dirty="0" smtClean="0">
                <a:solidFill>
                  <a:schemeClr val="bg1">
                    <a:lumMod val="95000"/>
                  </a:schemeClr>
                </a:solidFill>
                <a:latin typeface="Aptos Display"/>
              </a:rPr>
              <a:t>REQUESTS</a:t>
            </a:r>
          </a:p>
          <a:p>
            <a:r>
              <a:rPr lang="en-US" sz="1400" dirty="0" smtClean="0">
                <a:solidFill>
                  <a:schemeClr val="bg1">
                    <a:lumMod val="95000"/>
                  </a:schemeClr>
                </a:solidFill>
                <a:latin typeface="Aptos Display"/>
              </a:rPr>
              <a:t>If </a:t>
            </a:r>
            <a:r>
              <a:rPr lang="en-US" sz="1400" dirty="0">
                <a:solidFill>
                  <a:schemeClr val="bg1">
                    <a:lumMod val="95000"/>
                  </a:schemeClr>
                </a:solidFill>
                <a:latin typeface="Aptos Display"/>
              </a:rPr>
              <a:t>a message asks for sensitive information or urgent action, confirm the request through a trusted channel</a:t>
            </a:r>
            <a:r>
              <a:rPr lang="en-US" sz="1400" dirty="0" smtClean="0">
                <a:solidFill>
                  <a:schemeClr val="bg1">
                    <a:lumMod val="95000"/>
                  </a:schemeClr>
                </a:solidFill>
                <a:latin typeface="Aptos Display"/>
              </a:rPr>
              <a:t>.</a:t>
            </a:r>
          </a:p>
          <a:p>
            <a:endParaRPr lang="en-US" dirty="0" smtClean="0">
              <a:solidFill>
                <a:schemeClr val="bg1">
                  <a:lumMod val="95000"/>
                </a:schemeClr>
              </a:solidFill>
              <a:latin typeface="Aptos Display"/>
            </a:endParaRPr>
          </a:p>
          <a:p>
            <a:r>
              <a:rPr lang="en-US" sz="1500" b="1" dirty="0" smtClean="0">
                <a:solidFill>
                  <a:schemeClr val="bg1">
                    <a:lumMod val="95000"/>
                  </a:schemeClr>
                </a:solidFill>
                <a:latin typeface="Aptos Display"/>
              </a:rPr>
              <a:t>🚨 REPORT </a:t>
            </a:r>
            <a:r>
              <a:rPr lang="en-US" sz="1500" b="1" dirty="0">
                <a:solidFill>
                  <a:schemeClr val="bg1">
                    <a:lumMod val="95000"/>
                  </a:schemeClr>
                </a:solidFill>
                <a:latin typeface="Aptos Display"/>
              </a:rPr>
              <a:t>PHISHING </a:t>
            </a:r>
            <a:r>
              <a:rPr lang="en-US" sz="1500" b="1" dirty="0" smtClean="0">
                <a:solidFill>
                  <a:schemeClr val="bg1">
                    <a:lumMod val="95000"/>
                  </a:schemeClr>
                </a:solidFill>
                <a:latin typeface="Aptos Display"/>
              </a:rPr>
              <a:t>ATTEMPTS</a:t>
            </a:r>
          </a:p>
          <a:p>
            <a:r>
              <a:rPr lang="en-US" sz="1400" dirty="0" smtClean="0">
                <a:solidFill>
                  <a:schemeClr val="bg1">
                    <a:lumMod val="95000"/>
                  </a:schemeClr>
                </a:solidFill>
                <a:latin typeface="Aptos Display"/>
              </a:rPr>
              <a:t>Report </a:t>
            </a:r>
            <a:r>
              <a:rPr lang="en-US" sz="1400" dirty="0">
                <a:solidFill>
                  <a:schemeClr val="bg1">
                    <a:lumMod val="95000"/>
                  </a:schemeClr>
                </a:solidFill>
                <a:latin typeface="Aptos Display"/>
              </a:rPr>
              <a:t>suspicious emails, messages, or websites to your organization or the appropriate platform</a:t>
            </a:r>
            <a:r>
              <a:rPr lang="en-US" sz="1400" dirty="0"/>
              <a:t>.</a:t>
            </a:r>
          </a:p>
        </p:txBody>
      </p:sp>
      <p:sp>
        <p:nvSpPr>
          <p:cNvPr id="6" name="Rectangle 5"/>
          <p:cNvSpPr/>
          <p:nvPr/>
        </p:nvSpPr>
        <p:spPr>
          <a:xfrm>
            <a:off x="2406291" y="5402734"/>
            <a:ext cx="5071196" cy="323165"/>
          </a:xfrm>
          <a:prstGeom prst="rect">
            <a:avLst/>
          </a:prstGeom>
        </p:spPr>
        <p:txBody>
          <a:bodyPr wrap="none">
            <a:spAutoFit/>
          </a:bodyPr>
          <a:lstStyle/>
          <a:p>
            <a:r>
              <a:rPr lang="en-US" sz="1500" b="1" dirty="0">
                <a:solidFill>
                  <a:schemeClr val="bg1">
                    <a:lumMod val="95000"/>
                  </a:schemeClr>
                </a:solidFill>
                <a:latin typeface="Aptos Display"/>
              </a:rPr>
              <a:t>REMEMBER: STOP → THINK → VERIFY → </a:t>
            </a:r>
            <a:r>
              <a:rPr lang="en-US" sz="1500" b="1" dirty="0" smtClean="0">
                <a:solidFill>
                  <a:schemeClr val="bg1">
                    <a:lumMod val="95000"/>
                  </a:schemeClr>
                </a:solidFill>
                <a:latin typeface="Aptos Display"/>
              </a:rPr>
              <a:t>PROTECT</a:t>
            </a:r>
            <a:endParaRPr lang="en-US" sz="1500" b="1" dirty="0">
              <a:solidFill>
                <a:schemeClr val="bg1">
                  <a:lumMod val="95000"/>
                </a:schemeClr>
              </a:solidFill>
              <a:latin typeface="Aptos Display"/>
            </a:endParaRPr>
          </a:p>
        </p:txBody>
      </p:sp>
    </p:spTree>
    <p:extLst>
      <p:ext uri="{BB962C8B-B14F-4D97-AF65-F5344CB8AC3E}">
        <p14:creationId xmlns:p14="http://schemas.microsoft.com/office/powerpoint/2010/main" val="1735045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6957" y="3175000"/>
            <a:ext cx="8166844" cy="2660713"/>
          </a:xfrm>
        </p:spPr>
        <p:txBody>
          <a:bodyPr/>
          <a:lstStyle/>
          <a:p>
            <a:r>
              <a:rPr lang="en-US" sz="1800" b="1" dirty="0">
                <a:latin typeface="Aptos Display"/>
              </a:rPr>
              <a:t>🏥 </a:t>
            </a:r>
            <a:r>
              <a:rPr lang="en-US" sz="1500" b="1" dirty="0">
                <a:latin typeface="Aptos Display"/>
              </a:rPr>
              <a:t>EXAMPLE 1: COVID-19-RELATED </a:t>
            </a:r>
            <a:r>
              <a:rPr lang="en-US" sz="1500" b="1" dirty="0" smtClean="0">
                <a:latin typeface="Aptos Display"/>
              </a:rPr>
              <a:t>PHISHING </a:t>
            </a:r>
            <a:br>
              <a:rPr lang="en-US" sz="1500" b="1" dirty="0" smtClean="0">
                <a:latin typeface="Aptos Display"/>
              </a:rPr>
            </a:br>
            <a:r>
              <a:rPr lang="en-US" sz="1800" dirty="0" smtClean="0">
                <a:latin typeface="Aptos Display"/>
              </a:rPr>
              <a:t/>
            </a:r>
            <a:br>
              <a:rPr lang="en-US" sz="1800" dirty="0" smtClean="0">
                <a:latin typeface="Aptos Display"/>
              </a:rPr>
            </a:br>
            <a:r>
              <a:rPr lang="en-US" sz="1400" dirty="0" smtClean="0">
                <a:latin typeface="Aptos Display"/>
              </a:rPr>
              <a:t>During </a:t>
            </a:r>
            <a:r>
              <a:rPr lang="en-US" sz="1400" dirty="0">
                <a:latin typeface="Aptos Display"/>
              </a:rPr>
              <a:t>the COVID-19 pandemic, attackers sent phishing messages pretending to be health organizations. Victims were encouraged to click links, open attachments, or provide personal </a:t>
            </a:r>
            <a:r>
              <a:rPr lang="en-US" sz="1400" dirty="0" smtClean="0">
                <a:latin typeface="Aptos Display"/>
              </a:rPr>
              <a:t>information.</a:t>
            </a:r>
            <a:br>
              <a:rPr lang="en-US" sz="1400" dirty="0" smtClean="0">
                <a:latin typeface="Aptos Display"/>
              </a:rPr>
            </a:br>
            <a:r>
              <a:rPr lang="en-US" sz="1400" dirty="0" smtClean="0">
                <a:latin typeface="Aptos Display"/>
              </a:rPr>
              <a:t/>
            </a:r>
            <a:br>
              <a:rPr lang="en-US" sz="1400" dirty="0" smtClean="0">
                <a:latin typeface="Aptos Display"/>
              </a:rPr>
            </a:br>
            <a:r>
              <a:rPr lang="en-US" sz="1500" b="1" dirty="0" smtClean="0">
                <a:latin typeface="Aptos Display"/>
              </a:rPr>
              <a:t>LESSON</a:t>
            </a:r>
            <a:r>
              <a:rPr lang="en-US" sz="1500" dirty="0" smtClean="0">
                <a:latin typeface="Aptos Display"/>
              </a:rPr>
              <a:t>:</a:t>
            </a:r>
            <a:r>
              <a:rPr lang="en-US" sz="1800" dirty="0" smtClean="0">
                <a:latin typeface="Aptos Display"/>
              </a:rPr>
              <a:t> </a:t>
            </a:r>
            <a:r>
              <a:rPr lang="en-US" sz="1500" dirty="0" smtClean="0">
                <a:latin typeface="Aptos Display"/>
              </a:rPr>
              <a:t>Be </a:t>
            </a:r>
            <a:r>
              <a:rPr lang="en-US" sz="1500" dirty="0">
                <a:latin typeface="Aptos Display"/>
              </a:rPr>
              <a:t>cautious of messages using health emergencies or urgent situations to pressure you into taking action</a:t>
            </a:r>
            <a:r>
              <a:rPr lang="en-US" sz="1500" dirty="0" smtClean="0">
                <a:latin typeface="Aptos Display"/>
              </a:rPr>
              <a:t>.</a:t>
            </a:r>
            <a:br>
              <a:rPr lang="en-US" sz="1500" dirty="0" smtClean="0">
                <a:latin typeface="Aptos Display"/>
              </a:rPr>
            </a:br>
            <a:r>
              <a:rPr lang="en-US" sz="1800" dirty="0" smtClean="0">
                <a:latin typeface="Aptos Display"/>
              </a:rPr>
              <a:t/>
            </a:r>
            <a:br>
              <a:rPr lang="en-US" sz="1800" dirty="0" smtClean="0">
                <a:latin typeface="Aptos Display"/>
              </a:rPr>
            </a:br>
            <a:r>
              <a:rPr lang="en-US" sz="1500" b="1" dirty="0" smtClean="0">
                <a:latin typeface="Aptos Display"/>
              </a:rPr>
              <a:t> </a:t>
            </a:r>
            <a:r>
              <a:rPr lang="en-US" sz="1500" b="1" dirty="0">
                <a:latin typeface="Aptos Display"/>
              </a:rPr>
              <a:t>💼 EXAMPLE 2: FAKE LOGIN </a:t>
            </a:r>
            <a:r>
              <a:rPr lang="en-US" sz="1500" b="1" dirty="0" smtClean="0">
                <a:latin typeface="Aptos Display"/>
              </a:rPr>
              <a:t>PAGES</a:t>
            </a:r>
            <a:r>
              <a:rPr lang="en-US" sz="1800" b="1" dirty="0" smtClean="0">
                <a:latin typeface="Aptos Display"/>
              </a:rPr>
              <a:t/>
            </a:r>
            <a:br>
              <a:rPr lang="en-US" sz="1800" b="1" dirty="0" smtClean="0">
                <a:latin typeface="Aptos Display"/>
              </a:rPr>
            </a:br>
            <a:r>
              <a:rPr lang="en-US" sz="1800" dirty="0" smtClean="0">
                <a:latin typeface="Aptos Display"/>
              </a:rPr>
              <a:t/>
            </a:r>
            <a:br>
              <a:rPr lang="en-US" sz="1800" dirty="0" smtClean="0">
                <a:latin typeface="Aptos Display"/>
              </a:rPr>
            </a:br>
            <a:r>
              <a:rPr lang="en-US" sz="1400" dirty="0" smtClean="0">
                <a:latin typeface="Aptos Display"/>
              </a:rPr>
              <a:t>Attackers </a:t>
            </a:r>
            <a:r>
              <a:rPr lang="en-US" sz="1400" dirty="0">
                <a:latin typeface="Aptos Display"/>
              </a:rPr>
              <a:t>have used fake login pages to trick users into entering their usernames and passwords. Stolen credentials can then be used to access accounts</a:t>
            </a:r>
            <a:r>
              <a:rPr lang="en-US" sz="1400" dirty="0" smtClean="0">
                <a:latin typeface="Aptos Display"/>
              </a:rPr>
              <a:t>.</a:t>
            </a:r>
            <a:br>
              <a:rPr lang="en-US" sz="1400" dirty="0" smtClean="0">
                <a:latin typeface="Aptos Display"/>
              </a:rPr>
            </a:br>
            <a:r>
              <a:rPr lang="en-US" sz="1800" dirty="0" smtClean="0">
                <a:latin typeface="Aptos Display"/>
              </a:rPr>
              <a:t/>
            </a:r>
            <a:br>
              <a:rPr lang="en-US" sz="1800" dirty="0" smtClean="0">
                <a:latin typeface="Aptos Display"/>
              </a:rPr>
            </a:br>
            <a:r>
              <a:rPr lang="en-US" sz="1500" b="1" dirty="0" smtClean="0">
                <a:latin typeface="Aptos Display"/>
              </a:rPr>
              <a:t>LESSON:</a:t>
            </a:r>
            <a:r>
              <a:rPr lang="en-US" sz="1800" dirty="0" smtClean="0">
                <a:latin typeface="Aptos Display"/>
              </a:rPr>
              <a:t> </a:t>
            </a:r>
            <a:r>
              <a:rPr lang="en-US" sz="1400" dirty="0" smtClean="0">
                <a:solidFill>
                  <a:schemeClr val="bg1">
                    <a:lumMod val="95000"/>
                  </a:schemeClr>
                </a:solidFill>
                <a:latin typeface="Aptos Display"/>
              </a:rPr>
              <a:t>Don't </a:t>
            </a:r>
            <a:r>
              <a:rPr lang="en-US" sz="1400" dirty="0">
                <a:solidFill>
                  <a:schemeClr val="bg1">
                    <a:lumMod val="95000"/>
                  </a:schemeClr>
                </a:solidFill>
                <a:latin typeface="Aptos Display"/>
              </a:rPr>
              <a:t>enter your login details on a page reached through a suspicious link. Access important accounts through the organization's official website</a:t>
            </a:r>
            <a:r>
              <a:rPr lang="en-US" sz="1400" dirty="0" smtClean="0">
                <a:solidFill>
                  <a:schemeClr val="bg1">
                    <a:lumMod val="95000"/>
                  </a:schemeClr>
                </a:solidFill>
                <a:latin typeface="Aptos Display"/>
              </a:rPr>
              <a:t>.</a:t>
            </a:r>
            <a:br>
              <a:rPr lang="en-US" sz="1400" dirty="0" smtClean="0">
                <a:solidFill>
                  <a:schemeClr val="bg1">
                    <a:lumMod val="95000"/>
                  </a:schemeClr>
                </a:solidFill>
                <a:latin typeface="Aptos Display"/>
              </a:rPr>
            </a:br>
            <a:r>
              <a:rPr lang="en-US" sz="1800" dirty="0" smtClean="0">
                <a:latin typeface="Aptos Display"/>
              </a:rPr>
              <a:t/>
            </a:r>
            <a:br>
              <a:rPr lang="en-US" sz="1800" dirty="0" smtClean="0">
                <a:latin typeface="Aptos Display"/>
              </a:rPr>
            </a:br>
            <a:r>
              <a:rPr lang="en-US" sz="1500" b="1" dirty="0" smtClean="0">
                <a:latin typeface="Aptos Display"/>
              </a:rPr>
              <a:t>KEY TAKEAWAY</a:t>
            </a:r>
            <a:r>
              <a:rPr lang="en-US" sz="1800" dirty="0" smtClean="0">
                <a:latin typeface="Aptos Display"/>
              </a:rPr>
              <a:t>: </a:t>
            </a:r>
            <a:r>
              <a:rPr lang="en-US" sz="1400" dirty="0" smtClean="0">
                <a:latin typeface="Aptos Display"/>
              </a:rPr>
              <a:t>Phishing </a:t>
            </a:r>
            <a:r>
              <a:rPr lang="en-US" sz="1400" dirty="0">
                <a:latin typeface="Aptos Display"/>
              </a:rPr>
              <a:t>attacks often imitate trusted organizations and use urgency, fear, or familiar brands to deceive victims</a:t>
            </a:r>
            <a:r>
              <a:rPr lang="en-US" sz="1800" dirty="0">
                <a:latin typeface="Aptos Display"/>
              </a:rPr>
              <a:t>.</a:t>
            </a:r>
          </a:p>
        </p:txBody>
      </p:sp>
      <p:sp>
        <p:nvSpPr>
          <p:cNvPr id="4" name="Rectangle 3"/>
          <p:cNvSpPr/>
          <p:nvPr/>
        </p:nvSpPr>
        <p:spPr>
          <a:xfrm>
            <a:off x="3868543" y="631916"/>
            <a:ext cx="4724370" cy="369332"/>
          </a:xfrm>
          <a:prstGeom prst="rect">
            <a:avLst/>
          </a:prstGeom>
        </p:spPr>
        <p:txBody>
          <a:bodyPr wrap="none">
            <a:spAutoFit/>
          </a:bodyPr>
          <a:lstStyle/>
          <a:p>
            <a:r>
              <a:rPr lang="en-US" b="1" dirty="0" smtClean="0">
                <a:solidFill>
                  <a:schemeClr val="bg1">
                    <a:lumMod val="95000"/>
                  </a:schemeClr>
                </a:solidFill>
                <a:latin typeface="Aptos Display"/>
              </a:rPr>
              <a:t>       REAL-WORLD </a:t>
            </a:r>
            <a:r>
              <a:rPr lang="en-US" b="1" dirty="0">
                <a:solidFill>
                  <a:schemeClr val="bg1">
                    <a:lumMod val="95000"/>
                  </a:schemeClr>
                </a:solidFill>
                <a:latin typeface="Aptos Display"/>
              </a:rPr>
              <a:t>PHISHING EXAMPLES</a:t>
            </a:r>
          </a:p>
        </p:txBody>
      </p:sp>
      <p:sp>
        <p:nvSpPr>
          <p:cNvPr id="5" name="Rectangle 4"/>
          <p:cNvSpPr/>
          <p:nvPr/>
        </p:nvSpPr>
        <p:spPr>
          <a:xfrm>
            <a:off x="5004020" y="5758244"/>
            <a:ext cx="6541274" cy="553998"/>
          </a:xfrm>
          <a:prstGeom prst="rect">
            <a:avLst/>
          </a:prstGeom>
        </p:spPr>
        <p:txBody>
          <a:bodyPr wrap="square">
            <a:spAutoFit/>
          </a:bodyPr>
          <a:lstStyle/>
          <a:p>
            <a:r>
              <a:rPr lang="en-US" sz="1500" b="1" dirty="0" smtClean="0">
                <a:solidFill>
                  <a:schemeClr val="bg1">
                    <a:lumMod val="95000"/>
                  </a:schemeClr>
                </a:solidFill>
                <a:latin typeface="Aptos Display"/>
              </a:rPr>
              <a:t>SOURCES</a:t>
            </a:r>
            <a:r>
              <a:rPr lang="en-US" sz="1500" dirty="0" smtClean="0">
                <a:solidFill>
                  <a:schemeClr val="bg1">
                    <a:lumMod val="95000"/>
                  </a:schemeClr>
                </a:solidFill>
                <a:latin typeface="Aptos Display"/>
              </a:rPr>
              <a:t>: CISA </a:t>
            </a:r>
            <a:r>
              <a:rPr lang="en-US" sz="1500" dirty="0">
                <a:solidFill>
                  <a:schemeClr val="bg1">
                    <a:lumMod val="95000"/>
                  </a:schemeClr>
                </a:solidFill>
                <a:latin typeface="Aptos Display"/>
              </a:rPr>
              <a:t>— Defending Against COVID-19 Cyber Scams; CISA — Risk and Vulnerability Assessment: Healthcare and Public Health Sector</a:t>
            </a:r>
          </a:p>
        </p:txBody>
      </p:sp>
    </p:spTree>
    <p:extLst>
      <p:ext uri="{BB962C8B-B14F-4D97-AF65-F5344CB8AC3E}">
        <p14:creationId xmlns:p14="http://schemas.microsoft.com/office/powerpoint/2010/main" val="3228178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32021" y="84865"/>
            <a:ext cx="7822979" cy="2776868"/>
          </a:xfrm>
        </p:spPr>
        <p:txBody>
          <a:bodyPr/>
          <a:lstStyle/>
          <a:p>
            <a:r>
              <a:rPr lang="en-US" sz="1500" b="1" dirty="0">
                <a:latin typeface="Aptos Display"/>
              </a:rPr>
              <a:t>QUESTION </a:t>
            </a:r>
            <a:r>
              <a:rPr lang="en-US" sz="1500" b="1" dirty="0" smtClean="0">
                <a:latin typeface="Aptos Display"/>
              </a:rPr>
              <a:t>1</a:t>
            </a:r>
            <a:r>
              <a:rPr lang="en-US" sz="1800" dirty="0" smtClean="0">
                <a:latin typeface="Aptos Display"/>
              </a:rPr>
              <a:t/>
            </a:r>
            <a:br>
              <a:rPr lang="en-US" sz="1800" dirty="0" smtClean="0">
                <a:latin typeface="Aptos Display"/>
              </a:rPr>
            </a:br>
            <a:r>
              <a:rPr lang="en-US" sz="1400" dirty="0" smtClean="0">
                <a:latin typeface="Aptos Display"/>
              </a:rPr>
              <a:t>You </a:t>
            </a:r>
            <a:r>
              <a:rPr lang="en-US" sz="1400" dirty="0">
                <a:latin typeface="Aptos Display"/>
              </a:rPr>
              <a:t>receive an email saying your bank account will be closed today unless you click a link and verify your </a:t>
            </a:r>
            <a:r>
              <a:rPr lang="en-US" sz="1400" dirty="0" smtClean="0">
                <a:latin typeface="Aptos Display"/>
              </a:rPr>
              <a:t>details.</a:t>
            </a:r>
            <a:br>
              <a:rPr lang="en-US" sz="1400" dirty="0" smtClean="0">
                <a:latin typeface="Aptos Display"/>
              </a:rPr>
            </a:br>
            <a:r>
              <a:rPr lang="en-US" sz="1400" dirty="0" smtClean="0">
                <a:latin typeface="Aptos Display"/>
              </a:rPr>
              <a:t>What </a:t>
            </a:r>
            <a:r>
              <a:rPr lang="en-US" sz="1400" dirty="0">
                <a:latin typeface="Aptos Display"/>
              </a:rPr>
              <a:t>should you </a:t>
            </a:r>
            <a:r>
              <a:rPr lang="en-US" sz="1400" dirty="0" smtClean="0">
                <a:latin typeface="Aptos Display"/>
              </a:rPr>
              <a:t>do?</a:t>
            </a:r>
            <a:br>
              <a:rPr lang="en-US" sz="1400" dirty="0" smtClean="0">
                <a:latin typeface="Aptos Display"/>
              </a:rPr>
            </a:br>
            <a:r>
              <a:rPr lang="en-US" sz="1400" dirty="0" smtClean="0">
                <a:latin typeface="Aptos Display"/>
              </a:rPr>
              <a:t>A</a:t>
            </a:r>
            <a:r>
              <a:rPr lang="en-US" sz="1400" dirty="0">
                <a:latin typeface="Aptos Display"/>
              </a:rPr>
              <a:t>. Click the link and verify your </a:t>
            </a:r>
            <a:r>
              <a:rPr lang="en-US" sz="1400" dirty="0" smtClean="0">
                <a:latin typeface="Aptos Display"/>
              </a:rPr>
              <a:t>account</a:t>
            </a:r>
            <a:br>
              <a:rPr lang="en-US" sz="1400" dirty="0" smtClean="0">
                <a:latin typeface="Aptos Display"/>
              </a:rPr>
            </a:br>
            <a:r>
              <a:rPr lang="en-US" sz="1400" dirty="0" smtClean="0">
                <a:latin typeface="Aptos Display"/>
              </a:rPr>
              <a:t>B</a:t>
            </a:r>
            <a:r>
              <a:rPr lang="en-US" sz="1400" dirty="0">
                <a:latin typeface="Aptos Display"/>
              </a:rPr>
              <a:t>. Reply to the email for more </a:t>
            </a:r>
            <a:r>
              <a:rPr lang="en-US" sz="1400" dirty="0" smtClean="0">
                <a:latin typeface="Aptos Display"/>
              </a:rPr>
              <a:t>information</a:t>
            </a:r>
            <a:br>
              <a:rPr lang="en-US" sz="1400" dirty="0" smtClean="0">
                <a:latin typeface="Aptos Display"/>
              </a:rPr>
            </a:br>
            <a:r>
              <a:rPr lang="en-US" sz="1400" dirty="0" smtClean="0">
                <a:latin typeface="Aptos Display"/>
              </a:rPr>
              <a:t>C</a:t>
            </a:r>
            <a:r>
              <a:rPr lang="en-US" sz="1400" dirty="0">
                <a:latin typeface="Aptos Display"/>
              </a:rPr>
              <a:t>. Don't click the link. Verify the message through your bank's official website or contact </a:t>
            </a:r>
            <a:r>
              <a:rPr lang="en-US" sz="1400" dirty="0" smtClean="0">
                <a:latin typeface="Aptos Display"/>
              </a:rPr>
              <a:t>channel</a:t>
            </a:r>
            <a:br>
              <a:rPr lang="en-US" sz="1400" dirty="0" smtClean="0">
                <a:latin typeface="Aptos Display"/>
              </a:rPr>
            </a:br>
            <a:r>
              <a:rPr lang="en-US" sz="1400" dirty="0" smtClean="0">
                <a:latin typeface="Aptos Display"/>
              </a:rPr>
              <a:t>D</a:t>
            </a:r>
            <a:r>
              <a:rPr lang="en-US" sz="1400" dirty="0">
                <a:latin typeface="Aptos Display"/>
              </a:rPr>
              <a:t>. Forward the email to a friend</a:t>
            </a:r>
          </a:p>
        </p:txBody>
      </p:sp>
      <p:sp>
        <p:nvSpPr>
          <p:cNvPr id="4" name="Rectangle 3"/>
          <p:cNvSpPr/>
          <p:nvPr/>
        </p:nvSpPr>
        <p:spPr>
          <a:xfrm>
            <a:off x="4672871" y="528521"/>
            <a:ext cx="3446328" cy="369332"/>
          </a:xfrm>
          <a:prstGeom prst="rect">
            <a:avLst/>
          </a:prstGeom>
        </p:spPr>
        <p:txBody>
          <a:bodyPr wrap="none">
            <a:spAutoFit/>
          </a:bodyPr>
          <a:lstStyle/>
          <a:p>
            <a:r>
              <a:rPr lang="en-US" b="1" dirty="0">
                <a:solidFill>
                  <a:schemeClr val="bg1">
                    <a:lumMod val="95000"/>
                  </a:schemeClr>
                </a:solidFill>
                <a:latin typeface="Aptos Display"/>
              </a:rPr>
              <a:t>PHISHING AWARENESS QUIZ</a:t>
            </a:r>
          </a:p>
        </p:txBody>
      </p:sp>
      <p:sp>
        <p:nvSpPr>
          <p:cNvPr id="5" name="Rectangle 4"/>
          <p:cNvSpPr/>
          <p:nvPr/>
        </p:nvSpPr>
        <p:spPr>
          <a:xfrm>
            <a:off x="440709" y="2946394"/>
            <a:ext cx="6096000" cy="1400383"/>
          </a:xfrm>
          <a:prstGeom prst="rect">
            <a:avLst/>
          </a:prstGeom>
        </p:spPr>
        <p:txBody>
          <a:bodyPr>
            <a:spAutoFit/>
          </a:bodyPr>
          <a:lstStyle/>
          <a:p>
            <a:r>
              <a:rPr lang="en-US" sz="1500" b="1" dirty="0">
                <a:solidFill>
                  <a:schemeClr val="bg1">
                    <a:lumMod val="95000"/>
                  </a:schemeClr>
                </a:solidFill>
                <a:latin typeface="Aptos Display"/>
              </a:rPr>
              <a:t>QUESTION </a:t>
            </a:r>
            <a:r>
              <a:rPr lang="en-US" sz="1500" b="1" dirty="0" smtClean="0">
                <a:solidFill>
                  <a:schemeClr val="bg1">
                    <a:lumMod val="95000"/>
                  </a:schemeClr>
                </a:solidFill>
                <a:latin typeface="Aptos Display"/>
              </a:rPr>
              <a:t>2</a:t>
            </a:r>
          </a:p>
          <a:p>
            <a:r>
              <a:rPr lang="en-US" sz="1400" dirty="0" smtClean="0">
                <a:solidFill>
                  <a:schemeClr val="bg1">
                    <a:lumMod val="95000"/>
                  </a:schemeClr>
                </a:solidFill>
                <a:latin typeface="Aptos Display"/>
              </a:rPr>
              <a:t>Which </a:t>
            </a:r>
            <a:r>
              <a:rPr lang="en-US" sz="1400" dirty="0">
                <a:solidFill>
                  <a:schemeClr val="bg1">
                    <a:lumMod val="95000"/>
                  </a:schemeClr>
                </a:solidFill>
                <a:latin typeface="Aptos Display"/>
              </a:rPr>
              <a:t>of these is a warning sign of a phishing </a:t>
            </a:r>
            <a:r>
              <a:rPr lang="en-US" sz="1400" dirty="0" smtClean="0">
                <a:solidFill>
                  <a:schemeClr val="bg1">
                    <a:lumMod val="95000"/>
                  </a:schemeClr>
                </a:solidFill>
                <a:latin typeface="Aptos Display"/>
              </a:rPr>
              <a:t>email?</a:t>
            </a:r>
          </a:p>
          <a:p>
            <a:r>
              <a:rPr lang="en-US" sz="1400" dirty="0" smtClean="0">
                <a:solidFill>
                  <a:schemeClr val="bg1">
                    <a:lumMod val="95000"/>
                  </a:schemeClr>
                </a:solidFill>
                <a:latin typeface="Aptos Display"/>
              </a:rPr>
              <a:t>A. An </a:t>
            </a:r>
            <a:r>
              <a:rPr lang="en-US" sz="1400" dirty="0">
                <a:solidFill>
                  <a:schemeClr val="bg1">
                    <a:lumMod val="95000"/>
                  </a:schemeClr>
                </a:solidFill>
                <a:latin typeface="Aptos Display"/>
              </a:rPr>
              <a:t>unexpected request for sensitive </a:t>
            </a:r>
            <a:r>
              <a:rPr lang="en-US" sz="1400" dirty="0" smtClean="0">
                <a:solidFill>
                  <a:schemeClr val="bg1">
                    <a:lumMod val="95000"/>
                  </a:schemeClr>
                </a:solidFill>
                <a:latin typeface="Aptos Display"/>
              </a:rPr>
              <a:t>information</a:t>
            </a:r>
          </a:p>
          <a:p>
            <a:r>
              <a:rPr lang="en-US" sz="1400" dirty="0" smtClean="0">
                <a:solidFill>
                  <a:schemeClr val="bg1">
                    <a:lumMod val="95000"/>
                  </a:schemeClr>
                </a:solidFill>
                <a:latin typeface="Aptos Display"/>
              </a:rPr>
              <a:t>B</a:t>
            </a:r>
            <a:r>
              <a:rPr lang="en-US" sz="1400" dirty="0">
                <a:solidFill>
                  <a:schemeClr val="bg1">
                    <a:lumMod val="95000"/>
                  </a:schemeClr>
                </a:solidFill>
                <a:latin typeface="Aptos Display"/>
              </a:rPr>
              <a:t>. A message you were expecting from a trusted </a:t>
            </a:r>
            <a:r>
              <a:rPr lang="en-US" sz="1400" dirty="0" smtClean="0">
                <a:solidFill>
                  <a:schemeClr val="bg1">
                    <a:lumMod val="95000"/>
                  </a:schemeClr>
                </a:solidFill>
                <a:latin typeface="Aptos Display"/>
              </a:rPr>
              <a:t>contact</a:t>
            </a:r>
          </a:p>
          <a:p>
            <a:r>
              <a:rPr lang="en-US" sz="1400" dirty="0" smtClean="0">
                <a:solidFill>
                  <a:schemeClr val="bg1">
                    <a:lumMod val="95000"/>
                  </a:schemeClr>
                </a:solidFill>
                <a:latin typeface="Aptos Display"/>
              </a:rPr>
              <a:t>C</a:t>
            </a:r>
            <a:r>
              <a:rPr lang="en-US" sz="1400" dirty="0">
                <a:solidFill>
                  <a:schemeClr val="bg1">
                    <a:lumMod val="95000"/>
                  </a:schemeClr>
                </a:solidFill>
                <a:latin typeface="Aptos Display"/>
              </a:rPr>
              <a:t>. A normal company newsletter you subscribed </a:t>
            </a:r>
            <a:r>
              <a:rPr lang="en-US" sz="1400" dirty="0" smtClean="0">
                <a:solidFill>
                  <a:schemeClr val="bg1">
                    <a:lumMod val="95000"/>
                  </a:schemeClr>
                </a:solidFill>
                <a:latin typeface="Aptos Display"/>
              </a:rPr>
              <a:t>to</a:t>
            </a:r>
          </a:p>
          <a:p>
            <a:r>
              <a:rPr lang="en-US" sz="1400" dirty="0" smtClean="0">
                <a:solidFill>
                  <a:schemeClr val="bg1">
                    <a:lumMod val="95000"/>
                  </a:schemeClr>
                </a:solidFill>
                <a:latin typeface="Aptos Display"/>
              </a:rPr>
              <a:t>D</a:t>
            </a:r>
            <a:r>
              <a:rPr lang="en-US" sz="1400" dirty="0">
                <a:solidFill>
                  <a:schemeClr val="bg1">
                    <a:lumMod val="95000"/>
                  </a:schemeClr>
                </a:solidFill>
                <a:latin typeface="Aptos Display"/>
              </a:rPr>
              <a:t>. A routine work notification</a:t>
            </a:r>
          </a:p>
        </p:txBody>
      </p:sp>
      <p:sp>
        <p:nvSpPr>
          <p:cNvPr id="6" name="Rectangle 5"/>
          <p:cNvSpPr/>
          <p:nvPr/>
        </p:nvSpPr>
        <p:spPr>
          <a:xfrm>
            <a:off x="440709" y="4431438"/>
            <a:ext cx="6096000" cy="1615827"/>
          </a:xfrm>
          <a:prstGeom prst="rect">
            <a:avLst/>
          </a:prstGeom>
        </p:spPr>
        <p:txBody>
          <a:bodyPr>
            <a:spAutoFit/>
          </a:bodyPr>
          <a:lstStyle/>
          <a:p>
            <a:r>
              <a:rPr lang="en-US" sz="1500" b="1" dirty="0">
                <a:solidFill>
                  <a:schemeClr val="bg1">
                    <a:lumMod val="95000"/>
                  </a:schemeClr>
                </a:solidFill>
                <a:latin typeface="Aptos Display"/>
              </a:rPr>
              <a:t>QUESTION </a:t>
            </a:r>
            <a:r>
              <a:rPr lang="en-US" sz="1500" b="1" dirty="0" smtClean="0">
                <a:solidFill>
                  <a:schemeClr val="bg1">
                    <a:lumMod val="95000"/>
                  </a:schemeClr>
                </a:solidFill>
                <a:latin typeface="Aptos Display"/>
              </a:rPr>
              <a:t>3</a:t>
            </a:r>
          </a:p>
          <a:p>
            <a:r>
              <a:rPr lang="en-US" sz="1400" dirty="0" smtClean="0">
                <a:solidFill>
                  <a:schemeClr val="bg1">
                    <a:lumMod val="95000"/>
                  </a:schemeClr>
                </a:solidFill>
                <a:latin typeface="Aptos Display"/>
              </a:rPr>
              <a:t>Which </a:t>
            </a:r>
            <a:r>
              <a:rPr lang="en-US" sz="1400" dirty="0">
                <a:solidFill>
                  <a:schemeClr val="bg1">
                    <a:lumMod val="95000"/>
                  </a:schemeClr>
                </a:solidFill>
                <a:latin typeface="Aptos Display"/>
              </a:rPr>
              <a:t>statement about HTTPS is correct</a:t>
            </a:r>
            <a:r>
              <a:rPr lang="en-US" sz="1400" dirty="0" smtClean="0">
                <a:solidFill>
                  <a:schemeClr val="bg1">
                    <a:lumMod val="95000"/>
                  </a:schemeClr>
                </a:solidFill>
                <a:latin typeface="Aptos Display"/>
              </a:rPr>
              <a:t>?</a:t>
            </a:r>
          </a:p>
          <a:p>
            <a:r>
              <a:rPr lang="en-US" sz="1400" dirty="0" smtClean="0">
                <a:solidFill>
                  <a:schemeClr val="bg1">
                    <a:lumMod val="95000"/>
                  </a:schemeClr>
                </a:solidFill>
                <a:latin typeface="Aptos Display"/>
              </a:rPr>
              <a:t>A. HTTPS </a:t>
            </a:r>
            <a:r>
              <a:rPr lang="en-US" sz="1400" dirty="0">
                <a:solidFill>
                  <a:schemeClr val="bg1">
                    <a:lumMod val="95000"/>
                  </a:schemeClr>
                </a:solidFill>
                <a:latin typeface="Aptos Display"/>
              </a:rPr>
              <a:t>guarantees that a website is </a:t>
            </a:r>
            <a:r>
              <a:rPr lang="en-US" sz="1400" dirty="0" smtClean="0">
                <a:solidFill>
                  <a:schemeClr val="bg1">
                    <a:lumMod val="95000"/>
                  </a:schemeClr>
                </a:solidFill>
                <a:latin typeface="Aptos Display"/>
              </a:rPr>
              <a:t>legitimate</a:t>
            </a:r>
          </a:p>
          <a:p>
            <a:r>
              <a:rPr lang="en-US" sz="1400" dirty="0" smtClean="0">
                <a:solidFill>
                  <a:schemeClr val="bg1">
                    <a:lumMod val="95000"/>
                  </a:schemeClr>
                </a:solidFill>
                <a:latin typeface="Aptos Display"/>
              </a:rPr>
              <a:t>B</a:t>
            </a:r>
            <a:r>
              <a:rPr lang="en-US" sz="1400" dirty="0">
                <a:solidFill>
                  <a:schemeClr val="bg1">
                    <a:lumMod val="95000"/>
                  </a:schemeClr>
                </a:solidFill>
                <a:latin typeface="Aptos Display"/>
              </a:rPr>
              <a:t>. HTTPS means the connection is encrypted, but the website can still be </a:t>
            </a:r>
            <a:r>
              <a:rPr lang="en-US" sz="1400" dirty="0" smtClean="0">
                <a:solidFill>
                  <a:schemeClr val="bg1">
                    <a:lumMod val="95000"/>
                  </a:schemeClr>
                </a:solidFill>
                <a:latin typeface="Aptos Display"/>
              </a:rPr>
              <a:t>fraudulent</a:t>
            </a:r>
          </a:p>
          <a:p>
            <a:r>
              <a:rPr lang="en-US" sz="1400" dirty="0" smtClean="0">
                <a:solidFill>
                  <a:schemeClr val="bg1">
                    <a:lumMod val="95000"/>
                  </a:schemeClr>
                </a:solidFill>
                <a:latin typeface="Aptos Display"/>
              </a:rPr>
              <a:t>C</a:t>
            </a:r>
            <a:r>
              <a:rPr lang="en-US" sz="1400" dirty="0">
                <a:solidFill>
                  <a:schemeClr val="bg1">
                    <a:lumMod val="95000"/>
                  </a:schemeClr>
                </a:solidFill>
                <a:latin typeface="Aptos Display"/>
              </a:rPr>
              <a:t>. HTTPS means the website cannot be a phishing </a:t>
            </a:r>
            <a:r>
              <a:rPr lang="en-US" sz="1400" dirty="0" smtClean="0">
                <a:solidFill>
                  <a:schemeClr val="bg1">
                    <a:lumMod val="95000"/>
                  </a:schemeClr>
                </a:solidFill>
                <a:latin typeface="Aptos Display"/>
              </a:rPr>
              <a:t>site</a:t>
            </a:r>
          </a:p>
          <a:p>
            <a:r>
              <a:rPr lang="en-US" sz="1400" dirty="0" smtClean="0">
                <a:solidFill>
                  <a:schemeClr val="bg1">
                    <a:lumMod val="95000"/>
                  </a:schemeClr>
                </a:solidFill>
                <a:latin typeface="Aptos Display"/>
              </a:rPr>
              <a:t>D</a:t>
            </a:r>
            <a:r>
              <a:rPr lang="en-US" sz="1400" dirty="0">
                <a:solidFill>
                  <a:schemeClr val="bg1">
                    <a:lumMod val="95000"/>
                  </a:schemeClr>
                </a:solidFill>
                <a:latin typeface="Aptos Display"/>
              </a:rPr>
              <a:t>. HTTPS automatically verifies the organization</a:t>
            </a:r>
          </a:p>
        </p:txBody>
      </p:sp>
      <p:sp>
        <p:nvSpPr>
          <p:cNvPr id="8" name="Rectangle 7"/>
          <p:cNvSpPr/>
          <p:nvPr/>
        </p:nvSpPr>
        <p:spPr>
          <a:xfrm>
            <a:off x="8905461" y="5437149"/>
            <a:ext cx="2584172" cy="6266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b="1" dirty="0" smtClean="0">
                <a:latin typeface="Aptos Display"/>
              </a:rPr>
              <a:t>ANSWERS:</a:t>
            </a:r>
          </a:p>
          <a:p>
            <a:pPr algn="ctr"/>
            <a:r>
              <a:rPr lang="en-US" sz="1500" dirty="0" smtClean="0">
                <a:latin typeface="Aptos Display"/>
              </a:rPr>
              <a:t>1.C  2. A  3. B</a:t>
            </a:r>
            <a:endParaRPr lang="en-US" sz="1500" dirty="0">
              <a:latin typeface="Aptos Display"/>
            </a:endParaRPr>
          </a:p>
        </p:txBody>
      </p:sp>
    </p:spTree>
    <p:extLst>
      <p:ext uri="{BB962C8B-B14F-4D97-AF65-F5344CB8AC3E}">
        <p14:creationId xmlns:p14="http://schemas.microsoft.com/office/powerpoint/2010/main" val="41933096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3066" y="668111"/>
            <a:ext cx="2500270" cy="369332"/>
          </a:xfrm>
          <a:prstGeom prst="rect">
            <a:avLst/>
          </a:prstGeom>
        </p:spPr>
        <p:txBody>
          <a:bodyPr wrap="square">
            <a:spAutoFit/>
          </a:bodyPr>
          <a:lstStyle/>
          <a:p>
            <a:r>
              <a:rPr lang="en-US" b="1" dirty="0">
                <a:solidFill>
                  <a:schemeClr val="bg1">
                    <a:lumMod val="95000"/>
                  </a:schemeClr>
                </a:solidFill>
                <a:latin typeface="Aptos Display"/>
              </a:rPr>
              <a:t>KEY TAKEAWAYS</a:t>
            </a:r>
          </a:p>
        </p:txBody>
      </p:sp>
      <p:sp>
        <p:nvSpPr>
          <p:cNvPr id="5" name="Rectangle 4"/>
          <p:cNvSpPr/>
          <p:nvPr/>
        </p:nvSpPr>
        <p:spPr>
          <a:xfrm>
            <a:off x="948855" y="1718028"/>
            <a:ext cx="6096000" cy="3154710"/>
          </a:xfrm>
          <a:prstGeom prst="rect">
            <a:avLst/>
          </a:prstGeom>
        </p:spPr>
        <p:txBody>
          <a:bodyPr>
            <a:spAutoFit/>
          </a:bodyPr>
          <a:lstStyle/>
          <a:p>
            <a:endParaRPr lang="en-US" dirty="0" smtClean="0">
              <a:solidFill>
                <a:schemeClr val="bg1">
                  <a:lumMod val="95000"/>
                </a:schemeClr>
              </a:solidFill>
              <a:latin typeface="Aptos Display"/>
            </a:endParaRPr>
          </a:p>
          <a:p>
            <a:r>
              <a:rPr lang="en-US" sz="1500" dirty="0" smtClean="0">
                <a:solidFill>
                  <a:schemeClr val="bg1">
                    <a:lumMod val="95000"/>
                  </a:schemeClr>
                </a:solidFill>
                <a:latin typeface="Aptos Display"/>
              </a:rPr>
              <a:t>🛑 </a:t>
            </a:r>
            <a:r>
              <a:rPr lang="en-US" sz="1500" b="1" dirty="0" smtClean="0">
                <a:solidFill>
                  <a:schemeClr val="bg1">
                    <a:lumMod val="95000"/>
                  </a:schemeClr>
                </a:solidFill>
                <a:latin typeface="Aptos Display"/>
              </a:rPr>
              <a:t>STOP </a:t>
            </a:r>
          </a:p>
          <a:p>
            <a:r>
              <a:rPr lang="en-US" sz="1400" dirty="0" smtClean="0">
                <a:solidFill>
                  <a:schemeClr val="bg1">
                    <a:lumMod val="95000"/>
                  </a:schemeClr>
                </a:solidFill>
                <a:latin typeface="Aptos Display"/>
              </a:rPr>
              <a:t>Don't </a:t>
            </a:r>
            <a:r>
              <a:rPr lang="en-US" sz="1400" dirty="0">
                <a:solidFill>
                  <a:schemeClr val="bg1">
                    <a:lumMod val="95000"/>
                  </a:schemeClr>
                </a:solidFill>
                <a:latin typeface="Aptos Display"/>
              </a:rPr>
              <a:t>act immediately when a message creates pressure or urgency</a:t>
            </a:r>
            <a:r>
              <a:rPr lang="en-US" dirty="0" smtClean="0">
                <a:solidFill>
                  <a:schemeClr val="bg1">
                    <a:lumMod val="95000"/>
                  </a:schemeClr>
                </a:solidFill>
                <a:latin typeface="Aptos Display"/>
              </a:rPr>
              <a:t>.</a:t>
            </a:r>
          </a:p>
          <a:p>
            <a:endParaRPr lang="en-US" dirty="0" smtClean="0">
              <a:solidFill>
                <a:schemeClr val="bg1">
                  <a:lumMod val="95000"/>
                </a:schemeClr>
              </a:solidFill>
              <a:latin typeface="Aptos Display"/>
            </a:endParaRPr>
          </a:p>
          <a:p>
            <a:r>
              <a:rPr lang="en-US" sz="1500" b="1" dirty="0" smtClean="0">
                <a:solidFill>
                  <a:schemeClr val="bg1">
                    <a:lumMod val="95000"/>
                  </a:schemeClr>
                </a:solidFill>
                <a:latin typeface="Aptos Display"/>
              </a:rPr>
              <a:t>🔍 CHECK</a:t>
            </a:r>
          </a:p>
          <a:p>
            <a:r>
              <a:rPr lang="en-US" sz="1400" dirty="0" smtClean="0">
                <a:solidFill>
                  <a:schemeClr val="bg1">
                    <a:lumMod val="95000"/>
                  </a:schemeClr>
                </a:solidFill>
                <a:latin typeface="Aptos Display"/>
              </a:rPr>
              <a:t>Examine </a:t>
            </a:r>
            <a:r>
              <a:rPr lang="en-US" sz="1400" dirty="0">
                <a:solidFill>
                  <a:schemeClr val="bg1">
                    <a:lumMod val="95000"/>
                  </a:schemeClr>
                </a:solidFill>
                <a:latin typeface="Aptos Display"/>
              </a:rPr>
              <a:t>the sender, links, website address, and requests </a:t>
            </a:r>
            <a:r>
              <a:rPr lang="en-US" sz="1400" dirty="0" smtClean="0">
                <a:solidFill>
                  <a:schemeClr val="bg1">
                    <a:lumMod val="95000"/>
                  </a:schemeClr>
                </a:solidFill>
                <a:latin typeface="Aptos Display"/>
              </a:rPr>
              <a:t>carefully.</a:t>
            </a:r>
          </a:p>
          <a:p>
            <a:endParaRPr lang="en-US" sz="1400" dirty="0" smtClean="0">
              <a:solidFill>
                <a:schemeClr val="bg1">
                  <a:lumMod val="95000"/>
                </a:schemeClr>
              </a:solidFill>
              <a:latin typeface="Aptos Display"/>
            </a:endParaRPr>
          </a:p>
          <a:p>
            <a:r>
              <a:rPr lang="en-US" sz="1500" b="1" dirty="0" smtClean="0">
                <a:solidFill>
                  <a:schemeClr val="bg1">
                    <a:lumMod val="95000"/>
                  </a:schemeClr>
                </a:solidFill>
                <a:latin typeface="Aptos Display"/>
              </a:rPr>
              <a:t>✅ VERIFY</a:t>
            </a:r>
          </a:p>
          <a:p>
            <a:r>
              <a:rPr lang="en-US" sz="1400" dirty="0" smtClean="0">
                <a:solidFill>
                  <a:schemeClr val="bg1">
                    <a:lumMod val="95000"/>
                  </a:schemeClr>
                </a:solidFill>
                <a:latin typeface="Aptos Display"/>
              </a:rPr>
              <a:t>Confirm </a:t>
            </a:r>
            <a:r>
              <a:rPr lang="en-US" sz="1400" dirty="0">
                <a:solidFill>
                  <a:schemeClr val="bg1">
                    <a:lumMod val="95000"/>
                  </a:schemeClr>
                </a:solidFill>
                <a:latin typeface="Aptos Display"/>
              </a:rPr>
              <a:t>suspicious messages through a trusted source before taking </a:t>
            </a:r>
            <a:r>
              <a:rPr lang="en-US" sz="1400" dirty="0" smtClean="0">
                <a:solidFill>
                  <a:schemeClr val="bg1">
                    <a:lumMod val="95000"/>
                  </a:schemeClr>
                </a:solidFill>
                <a:latin typeface="Aptos Display"/>
              </a:rPr>
              <a:t>action.</a:t>
            </a:r>
          </a:p>
          <a:p>
            <a:endParaRPr lang="en-US" sz="1400" dirty="0" smtClean="0">
              <a:solidFill>
                <a:schemeClr val="bg1">
                  <a:lumMod val="95000"/>
                </a:schemeClr>
              </a:solidFill>
              <a:latin typeface="Aptos Display"/>
            </a:endParaRPr>
          </a:p>
          <a:p>
            <a:r>
              <a:rPr lang="en-US" sz="1500" b="1" dirty="0" smtClean="0">
                <a:solidFill>
                  <a:schemeClr val="bg1">
                    <a:lumMod val="95000"/>
                  </a:schemeClr>
                </a:solidFill>
                <a:latin typeface="Aptos Display"/>
              </a:rPr>
              <a:t>🔐 PROTECT</a:t>
            </a:r>
          </a:p>
          <a:p>
            <a:r>
              <a:rPr lang="en-US" sz="1500" dirty="0" smtClean="0">
                <a:solidFill>
                  <a:schemeClr val="bg1">
                    <a:lumMod val="95000"/>
                  </a:schemeClr>
                </a:solidFill>
                <a:latin typeface="Aptos Display"/>
              </a:rPr>
              <a:t>Use </a:t>
            </a:r>
            <a:r>
              <a:rPr lang="en-US" sz="1500" dirty="0">
                <a:solidFill>
                  <a:schemeClr val="bg1">
                    <a:lumMod val="95000"/>
                  </a:schemeClr>
                </a:solidFill>
                <a:latin typeface="Aptos Display"/>
              </a:rPr>
              <a:t>strong passwords, enable MFA, and report suspicious activity</a:t>
            </a:r>
            <a:r>
              <a:rPr lang="en-US" sz="1500" dirty="0" smtClean="0">
                <a:solidFill>
                  <a:schemeClr val="bg1">
                    <a:lumMod val="95000"/>
                  </a:schemeClr>
                </a:solidFill>
                <a:latin typeface="Aptos Display"/>
              </a:rPr>
              <a:t>.</a:t>
            </a:r>
            <a:endParaRPr lang="en-US" sz="1500" dirty="0">
              <a:solidFill>
                <a:schemeClr val="bg1">
                  <a:lumMod val="95000"/>
                </a:schemeClr>
              </a:solidFill>
              <a:latin typeface="Aptos Display"/>
            </a:endParaRPr>
          </a:p>
        </p:txBody>
      </p:sp>
      <p:sp>
        <p:nvSpPr>
          <p:cNvPr id="6" name="Rectangle 5"/>
          <p:cNvSpPr/>
          <p:nvPr/>
        </p:nvSpPr>
        <p:spPr>
          <a:xfrm>
            <a:off x="3899442" y="5509158"/>
            <a:ext cx="2787686" cy="323165"/>
          </a:xfrm>
          <a:prstGeom prst="rect">
            <a:avLst/>
          </a:prstGeom>
        </p:spPr>
        <p:txBody>
          <a:bodyPr wrap="none">
            <a:spAutoFit/>
          </a:bodyPr>
          <a:lstStyle/>
          <a:p>
            <a:r>
              <a:rPr lang="en-US" sz="1500" b="1" dirty="0">
                <a:solidFill>
                  <a:schemeClr val="bg1">
                    <a:lumMod val="95000"/>
                  </a:schemeClr>
                </a:solidFill>
                <a:latin typeface="Aptos Display"/>
              </a:rPr>
              <a:t>THINK BEFORE YOU CLICK</a:t>
            </a:r>
            <a:r>
              <a:rPr lang="en-US" sz="1500" b="1" dirty="0" smtClean="0">
                <a:latin typeface="Aptos Display"/>
              </a:rPr>
              <a:t>.</a:t>
            </a:r>
            <a:endParaRPr lang="en-US" sz="1500" b="1" dirty="0">
              <a:latin typeface="Aptos Display"/>
            </a:endParaRPr>
          </a:p>
        </p:txBody>
      </p:sp>
    </p:spTree>
    <p:extLst>
      <p:ext uri="{BB962C8B-B14F-4D97-AF65-F5344CB8AC3E}">
        <p14:creationId xmlns:p14="http://schemas.microsoft.com/office/powerpoint/2010/main" val="19452516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86837" y="883184"/>
            <a:ext cx="8825658" cy="2677648"/>
          </a:xfrm>
        </p:spPr>
        <p:txBody>
          <a:bodyPr/>
          <a:lstStyle/>
          <a:p>
            <a:r>
              <a:rPr lang="en-US" b="1" dirty="0" smtClean="0">
                <a:latin typeface="Algerian" panose="04020705040A02060702" pitchFamily="82" charset="0"/>
              </a:rPr>
              <a:t>THANK </a:t>
            </a:r>
            <a:r>
              <a:rPr lang="en-US" b="1" dirty="0">
                <a:latin typeface="Algerian" panose="04020705040A02060702" pitchFamily="82" charset="0"/>
              </a:rPr>
              <a:t>YOU</a:t>
            </a:r>
          </a:p>
        </p:txBody>
      </p:sp>
    </p:spTree>
    <p:extLst>
      <p:ext uri="{BB962C8B-B14F-4D97-AF65-F5344CB8AC3E}">
        <p14:creationId xmlns:p14="http://schemas.microsoft.com/office/powerpoint/2010/main" val="9275132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478</TotalTime>
  <Words>615</Words>
  <Application>Microsoft Office PowerPoint</Application>
  <PresentationFormat>Widescreen</PresentationFormat>
  <Paragraphs>124</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Algerian</vt:lpstr>
      <vt:lpstr>Aptos Display</vt:lpstr>
      <vt:lpstr>Arial</vt:lpstr>
      <vt:lpstr>Century Gothic</vt:lpstr>
      <vt:lpstr>Wingdings 3</vt:lpstr>
      <vt:lpstr>Ion Boardroom</vt:lpstr>
      <vt:lpstr>PHISHING AWARENESS TRAINING               Recognize. Think. Protect.            CodeAlpha Cyber Security Internship                          Task 2                   Presented by: TheCyberNurse                    </vt:lpstr>
      <vt:lpstr>                 WHAT IS PHISHING  Phishing is a cyberattack that uses deceptive messages or websites to trick people into revealing sensitive information or performing an unsafe action.</vt:lpstr>
      <vt:lpstr>                            HOW PHISHING ATTACKS WORK  1. CREATE THE BAIT Attackers create a convincing email, message, or fake website  2. CREATE URGENCY They pressure the victim to act quickly.  3.TRICK THE VICTIM victim may click a link, open an attachment, or provide information. </vt:lpstr>
      <vt:lpstr>                                      HOW TO SPOT A PHISHING EMAIL   🚩 CHECK THE SENDER Is the email address unfamiliar, unusual, or slightly different from the real organization?  🚩 WATCH FOR URGENCY Be careful with messages that pressure you to act immediately.  🚩 CHECK THE LINK Hover over links before clicking. Look for suspicious or unfamiliar web addresses.  🚩 LOOK FOR UNEXPECTED ATTACHMENTS Be cautious with unexpected attachments, especially from unknown senders.  🚩 DON'T SHARE SENSITIVE INFORMATION Legitimate organizations generally won't ask you to send passwords or sensitive information through email.        REMEMBER: STOP → CHECK → VERIFY</vt:lpstr>
      <vt:lpstr>  HOW TO SPOT A FAKE WEBSITE  🔗 CHECK THE WEBSITE ADDRESS  Look carefully for misspellings, unusual domains, or extra characters in the URL.  🔒 LOOK FOR HTTPS — BUT DON'T RELY ON IT ALONE  HTTPS means the connection is encrypted, but it does not automatically mean the website is legitimate.  🏢 VERIFY THE ORGANIZATION Use the organization's official website or trusted contact information to confirm the site.  ⚠️ WATCH FOR SUSPICIOUS DESIGN Poor grammar, unusual pop-ups, broken links, or copied logos can be warning signs.  🔑 BE CAREFUL WITH LOGIN PAGES Don't enter passwords or sensitive information until you are sure the website is genuine.</vt:lpstr>
      <vt:lpstr>                                                        SOCIAL ENGINEERING TACTICS  Social engineering is the use of psychological manipulation to trick people into revealing information, giving access, or taking an unsafe action.</vt:lpstr>
      <vt:lpstr>📧 EMAIL PHISHING Fake emails designed to trick people into clicking links, opening attachments, or sharing information.  📱 SMISHING Phishing attacks carried out through SMS or text messages.  ☎️ VISHING Fraudulent phone calls used to obtain sensitive information or persuade victims to take unsafe actions.</vt:lpstr>
      <vt:lpstr>THINK BEFORE YOU CLICK Don't click links or open attachments just because a message looks urgent or familiar.   🌐VERIFY LINKS AND WEBSITES Check the website address carefully and use official websites when accessing important accounts.  🔐 USE STRONG, UNIQUE PASSWORDS Avoid reusing the same password across different accounts.</vt:lpstr>
      <vt:lpstr>🏥 EXAMPLE 1: COVID-19-RELATED PHISHING   During the COVID-19 pandemic, attackers sent phishing messages pretending to be health organizations. Victims were encouraged to click links, open attachments, or provide personal information.  LESSON: Be cautious of messages using health emergencies or urgent situations to pressure you into taking action.   💼 EXAMPLE 2: FAKE LOGIN PAGES  Attackers have used fake login pages to trick users into entering their usernames and passwords. Stolen credentials can then be used to access accounts.  LESSON: Don't enter your login details on a page reached through a suspicious link. Access important accounts through the organization's official website.  KEY TAKEAWAY: Phishing attacks often imitate trusted organizations and use urgency, fear, or familiar brands to deceive victims.</vt:lpstr>
      <vt:lpstr>QUESTION 1 You receive an email saying your bank account will be closed today unless you click a link and verify your details. What should you do? A. Click the link and verify your account B. Reply to the email for more information C. Don't click the link. Verify the message through your bank's official website or contact channel D. Forward the email to a friend</vt:lpstr>
      <vt:lpstr>PowerPoint Presentation</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PHISHING AWARENESS TRAINING</dc:title>
  <dc:creator>DELL</dc:creator>
  <cp:lastModifiedBy>DELL</cp:lastModifiedBy>
  <cp:revision>38</cp:revision>
  <dcterms:created xsi:type="dcterms:W3CDTF">2026-10-02T18:53:32Z</dcterms:created>
  <dcterms:modified xsi:type="dcterms:W3CDTF">2026-10-04T21:26:03Z</dcterms:modified>
</cp:coreProperties>
</file>